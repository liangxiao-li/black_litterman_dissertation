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1"/>
  </p:notesMasterIdLst>
  <p:sldIdLst>
    <p:sldId id="256" r:id="rId2"/>
    <p:sldId id="293" r:id="rId3"/>
    <p:sldId id="281" r:id="rId4"/>
    <p:sldId id="302" r:id="rId5"/>
    <p:sldId id="326" r:id="rId6"/>
    <p:sldId id="322" r:id="rId7"/>
    <p:sldId id="327" r:id="rId8"/>
    <p:sldId id="323" r:id="rId9"/>
    <p:sldId id="328" r:id="rId10"/>
    <p:sldId id="324" r:id="rId11"/>
    <p:sldId id="329" r:id="rId12"/>
    <p:sldId id="330" r:id="rId13"/>
    <p:sldId id="307" r:id="rId14"/>
    <p:sldId id="332" r:id="rId15"/>
    <p:sldId id="310" r:id="rId16"/>
    <p:sldId id="331" r:id="rId17"/>
    <p:sldId id="313" r:id="rId18"/>
    <p:sldId id="333" r:id="rId19"/>
    <p:sldId id="312" r:id="rId20"/>
    <p:sldId id="306" r:id="rId21"/>
    <p:sldId id="316" r:id="rId22"/>
    <p:sldId id="317" r:id="rId23"/>
    <p:sldId id="321" r:id="rId24"/>
    <p:sldId id="325" r:id="rId25"/>
    <p:sldId id="318" r:id="rId26"/>
    <p:sldId id="315" r:id="rId27"/>
    <p:sldId id="334" r:id="rId28"/>
    <p:sldId id="308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4"/>
    <p:restoredTop sz="94853"/>
  </p:normalViewPr>
  <p:slideViewPr>
    <p:cSldViewPr snapToGrid="0">
      <p:cViewPr>
        <p:scale>
          <a:sx n="114" d="100"/>
          <a:sy n="114" d="100"/>
        </p:scale>
        <p:origin x="56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DD892-7AB0-B44D-B232-A583B63FD29B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F34BA-E12B-5346-9BF1-0229B93A4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1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3358D-947D-8699-EBDF-2DD85AD2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A7D19C-D14F-88A7-F0C5-B724DC9BF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95F33-D0F8-6986-2705-C398D48C2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006A8-5EF4-F32A-BE65-6DF05B5358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21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715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BAF81-CFDE-0A7F-7FFA-06C12CE6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325F6-5C1F-3EBB-E3AE-C7704E52A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88B69-9B6C-6BA2-D07F-E7FD34E7B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6B9B-BB2B-D9DA-01F9-E90D5554A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ADE8-8172-2098-071C-BADEB326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603AE-D946-BFF3-C1C4-13E4DF8A6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23DE5D-6A99-8EAE-E0DF-714ADDE3D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F6F98-01AF-1F4E-211D-9E0C36684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153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1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A6EB-38AA-5351-D89C-C187CABC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2BAE9-3A53-4668-AA39-8E67C9408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FE18E-201D-6C22-B623-48B5F832F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15742-7ACC-2BA3-8823-B935D5F58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0F34BA-E12B-5346-9BF1-0229B93A49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04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9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1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88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9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4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56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97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66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37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4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91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4.xml"/><Relationship Id="rId7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29.xml"/><Relationship Id="rId5" Type="http://schemas.openxmlformats.org/officeDocument/2006/relationships/slide" Target="slide8.xml"/><Relationship Id="rId10" Type="http://schemas.openxmlformats.org/officeDocument/2006/relationships/slide" Target="slide11.xml"/><Relationship Id="rId4" Type="http://schemas.openxmlformats.org/officeDocument/2006/relationships/slide" Target="slide6.xml"/><Relationship Id="rId9" Type="http://schemas.openxmlformats.org/officeDocument/2006/relationships/slide" Target="slide2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4.png"/><Relationship Id="rId7" Type="http://schemas.openxmlformats.org/officeDocument/2006/relationships/slide" Target="sli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Colourful wavy concept">
            <a:extLst>
              <a:ext uri="{FF2B5EF4-FFF2-40B4-BE49-F238E27FC236}">
                <a16:creationId xmlns:a16="http://schemas.microsoft.com/office/drawing/2014/main" id="{DDD81079-ECB4-565D-17B9-832A5F3FA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3" b="13157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78785-778D-0D79-58A8-64B42A849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en-US" sz="4800" dirty="0"/>
              <a:t>Dissertation</a:t>
            </a:r>
            <a:br>
              <a:rPr lang="en-US" sz="4800" dirty="0"/>
            </a:br>
            <a:r>
              <a:rPr lang="en-US" sz="4800" dirty="0"/>
              <a:t>Briefing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0BA30-7780-97A7-6338-E4A07245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Liangxiao</a:t>
            </a:r>
            <a:r>
              <a:rPr lang="en-US" sz="2000" dirty="0"/>
              <a:t> LI</a:t>
            </a:r>
          </a:p>
          <a:p>
            <a:r>
              <a:rPr lang="en-US" sz="2000" dirty="0"/>
              <a:t>7.18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2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4EA0-D8DF-E526-120E-9E57709D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C4E9-7C5F-321F-5F2C-59813898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19" y="1363614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/>
              <a:t>Quick Recap: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5A73-FBCB-F843-8ED1-767B01291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19" y="2768460"/>
            <a:ext cx="6554495" cy="43732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34753DEC-98F8-F8C7-62ED-9A624AF5ACE2}"/>
              </a:ext>
            </a:extLst>
          </p:cNvPr>
          <p:cNvSpPr/>
          <p:nvPr/>
        </p:nvSpPr>
        <p:spPr>
          <a:xfrm>
            <a:off x="10028871" y="268831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F96EA9-E183-2AC3-B8CC-BA866C2B9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894" y="1231018"/>
            <a:ext cx="5373087" cy="53240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99414E-08AA-537E-EBAC-F2160B04F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304" y="2768460"/>
            <a:ext cx="4111174" cy="3913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43414A-C3FD-ABBA-924B-9793CB3690EC}"/>
              </a:ext>
            </a:extLst>
          </p:cNvPr>
          <p:cNvSpPr/>
          <p:nvPr/>
        </p:nvSpPr>
        <p:spPr>
          <a:xfrm>
            <a:off x="1457171" y="3083440"/>
            <a:ext cx="2265743" cy="200222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1D75B-6924-A265-2E59-4C57FDA06659}"/>
              </a:ext>
            </a:extLst>
          </p:cNvPr>
          <p:cNvSpPr/>
          <p:nvPr/>
        </p:nvSpPr>
        <p:spPr>
          <a:xfrm>
            <a:off x="3870974" y="3083440"/>
            <a:ext cx="1511849" cy="200222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494EF-E2C3-96CE-D6B5-A82A55A3E1B3}"/>
              </a:ext>
            </a:extLst>
          </p:cNvPr>
          <p:cNvSpPr txBox="1"/>
          <p:nvPr/>
        </p:nvSpPr>
        <p:spPr>
          <a:xfrm>
            <a:off x="673961" y="3523695"/>
            <a:ext cx="1472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Prior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F4A50-3DF9-DF76-0140-52A9A4F892A4}"/>
              </a:ext>
            </a:extLst>
          </p:cNvPr>
          <p:cNvSpPr txBox="1"/>
          <p:nvPr/>
        </p:nvSpPr>
        <p:spPr>
          <a:xfrm>
            <a:off x="4265117" y="2768460"/>
            <a:ext cx="172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34413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F689-C0EA-F49A-5289-ED350C84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99" y="1056557"/>
            <a:ext cx="10890929" cy="1097280"/>
          </a:xfrm>
        </p:spPr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0E3E-3269-F4B1-4B4D-3C3F5E3C4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97" y="1910862"/>
            <a:ext cx="11988203" cy="441885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3" action="ppaction://hlinksldjump"/>
              </a:rPr>
              <a:t>Model Pipeline Construction</a:t>
            </a:r>
            <a:endParaRPr lang="en-US" dirty="0"/>
          </a:p>
          <a:p>
            <a:pPr lvl="1"/>
            <a:r>
              <a:rPr lang="en-US" dirty="0"/>
              <a:t>Update on dataset </a:t>
            </a:r>
            <a:r>
              <a:rPr lang="en-US" dirty="0">
                <a:hlinkClick r:id="rId4" action="ppaction://hlinksldjump"/>
              </a:rPr>
              <a:t>CRSP</a:t>
            </a:r>
            <a:r>
              <a:rPr lang="en-US" dirty="0"/>
              <a:t> for historical data</a:t>
            </a:r>
          </a:p>
          <a:p>
            <a:pPr lvl="1"/>
            <a:r>
              <a:rPr lang="en-US" dirty="0"/>
              <a:t>Black-</a:t>
            </a:r>
            <a:r>
              <a:rPr lang="en-US" dirty="0" err="1"/>
              <a:t>Litterman</a:t>
            </a:r>
            <a:r>
              <a:rPr lang="en-US" dirty="0"/>
              <a:t> model library: </a:t>
            </a:r>
            <a:r>
              <a:rPr lang="en-US" dirty="0" err="1">
                <a:hlinkClick r:id="rId5" action="ppaction://hlinksldjump"/>
              </a:rPr>
              <a:t>PyPortfolioOpt</a:t>
            </a:r>
            <a:endParaRPr lang="en-US" dirty="0"/>
          </a:p>
          <a:p>
            <a:r>
              <a:rPr lang="en-US" dirty="0"/>
              <a:t>Literature reviews </a:t>
            </a:r>
            <a:r>
              <a:rPr lang="en-US" b="1" dirty="0">
                <a:solidFill>
                  <a:srgbClr val="FF0000"/>
                </a:solidFill>
              </a:rPr>
              <a:t>(What others do? What I’m </a:t>
            </a:r>
            <a:r>
              <a:rPr lang="en-US" b="1" dirty="0" err="1">
                <a:solidFill>
                  <a:srgbClr val="FF0000"/>
                </a:solidFill>
              </a:rPr>
              <a:t>gonna</a:t>
            </a:r>
            <a:r>
              <a:rPr lang="en-US" b="1" dirty="0">
                <a:solidFill>
                  <a:srgbClr val="FF0000"/>
                </a:solidFill>
              </a:rPr>
              <a:t> do)</a:t>
            </a:r>
          </a:p>
          <a:p>
            <a:pPr lvl="1"/>
            <a:r>
              <a:rPr lang="en-US" dirty="0"/>
              <a:t>Question 1: How to pick funds for analysis? – </a:t>
            </a:r>
            <a:r>
              <a:rPr lang="en-US" dirty="0">
                <a:hlinkClick r:id="rId6" action="ppaction://hlinksldjump"/>
              </a:rPr>
              <a:t>FEHF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Question 2: How to get P, Q, </a:t>
            </a:r>
            <a:r>
              <a:rPr lang="en-US" b="1" dirty="0" err="1"/>
              <a:t>Ω</a:t>
            </a:r>
            <a:r>
              <a:rPr lang="en-US" dirty="0"/>
              <a:t>?</a:t>
            </a:r>
          </a:p>
          <a:p>
            <a:pPr lvl="2"/>
            <a:r>
              <a:rPr lang="en-US" dirty="0">
                <a:hlinkClick r:id="rId7" action="ppaction://hlinksldjump"/>
              </a:rPr>
              <a:t>Calculate P</a:t>
            </a:r>
            <a:r>
              <a:rPr lang="en-US" dirty="0"/>
              <a:t>: Pick funds with highest tilts, assign P to “Best Ideas” based on money invested, other take 0.</a:t>
            </a:r>
          </a:p>
          <a:p>
            <a:pPr lvl="2"/>
            <a:r>
              <a:rPr lang="en-US" dirty="0"/>
              <a:t>Calculate Q: Prediction Model to predict Fund’s future implementation</a:t>
            </a:r>
          </a:p>
          <a:p>
            <a:pPr lvl="2"/>
            <a:r>
              <a:rPr lang="en-US" b="1" dirty="0">
                <a:hlinkClick r:id="rId8" action="ppaction://hlinksldjump"/>
              </a:rPr>
              <a:t>Calculate Ω</a:t>
            </a:r>
            <a:r>
              <a:rPr lang="en-US" b="1" dirty="0"/>
              <a:t>: Return of the fund’s past performance</a:t>
            </a:r>
          </a:p>
          <a:p>
            <a:pPr lvl="1"/>
            <a:r>
              <a:rPr lang="en-US" b="1" dirty="0">
                <a:hlinkClick r:id="rId9" action="ppaction://hlinksldjump"/>
              </a:rPr>
              <a:t>Question 3</a:t>
            </a:r>
            <a:r>
              <a:rPr lang="en-US" b="1" dirty="0"/>
              <a:t>: How to perform Benchmark testing?</a:t>
            </a:r>
          </a:p>
          <a:p>
            <a:pPr lvl="2"/>
            <a:r>
              <a:rPr lang="en-US" dirty="0"/>
              <a:t>47-day-lag</a:t>
            </a:r>
          </a:p>
          <a:p>
            <a:pPr lvl="2"/>
            <a:r>
              <a:rPr lang="en-US" dirty="0" err="1"/>
              <a:t>Farma</a:t>
            </a:r>
            <a:r>
              <a:rPr lang="en-US" dirty="0"/>
              <a:t> French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US" altLang="zh-CN" dirty="0"/>
              <a:t>Factor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endParaRPr lang="en-US" dirty="0"/>
          </a:p>
          <a:p>
            <a:r>
              <a:rPr lang="en-US" dirty="0">
                <a:hlinkClick r:id="rId10" action="ppaction://hlinksldjump"/>
              </a:rPr>
              <a:t>LaTeX Dissertation Progress and my next steps  </a:t>
            </a:r>
            <a:endParaRPr lang="en-US" dirty="0"/>
          </a:p>
          <a:p>
            <a:r>
              <a:rPr lang="en-US" dirty="0">
                <a:hlinkClick r:id="rId11" action="ppaction://hlinksldjump"/>
              </a:rPr>
              <a:t>Timeline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4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CD516-1B99-D9A8-8DE8-477164A1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7000-C7A8-713F-2DA7-934742D4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dirty="0"/>
              <a:t>Model Pipeline Construction –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8601-9FF9-FB2E-A453-5568E67C5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6230B8-CD79-8F7D-2DB2-C01EAFE7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60" y="757195"/>
            <a:ext cx="9495239" cy="6100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C5BB21-8F6E-602F-19EC-CB3534298CAA}"/>
              </a:ext>
            </a:extLst>
          </p:cNvPr>
          <p:cNvSpPr txBox="1"/>
          <p:nvPr/>
        </p:nvSpPr>
        <p:spPr>
          <a:xfrm>
            <a:off x="4731126" y="1469656"/>
            <a:ext cx="3339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 action="ppaction://hlinksldjump"/>
              </a:rPr>
              <a:t>(1)How 13 F Makes Money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B58E4-F8F0-02BC-3696-7775EF684485}"/>
              </a:ext>
            </a:extLst>
          </p:cNvPr>
          <p:cNvSpPr txBox="1"/>
          <p:nvPr/>
        </p:nvSpPr>
        <p:spPr>
          <a:xfrm>
            <a:off x="1108114" y="5281011"/>
            <a:ext cx="2215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 action="ppaction://hlinksldjump"/>
              </a:rPr>
              <a:t>(2)Real PCT Change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2D655-5ED8-359A-7731-0D98BE200A05}"/>
              </a:ext>
            </a:extLst>
          </p:cNvPr>
          <p:cNvSpPr txBox="1"/>
          <p:nvPr/>
        </p:nvSpPr>
        <p:spPr>
          <a:xfrm>
            <a:off x="6494061" y="4843103"/>
            <a:ext cx="2324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 action="ppaction://hlinksldjump"/>
              </a:rPr>
              <a:t>(3</a:t>
            </a:r>
            <a:r>
              <a:rPr lang="en-US" dirty="0">
                <a:hlinkClick r:id="rId7" action="ppaction://hlinksldjump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ADB52-32CF-C933-95B3-8D768908F253}"/>
              </a:ext>
            </a:extLst>
          </p:cNvPr>
          <p:cNvSpPr txBox="1"/>
          <p:nvPr/>
        </p:nvSpPr>
        <p:spPr>
          <a:xfrm>
            <a:off x="3507823" y="5537208"/>
            <a:ext cx="270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8" action="ppaction://hlinksldjump"/>
              </a:rPr>
              <a:t>(4)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446F1-DEDF-9639-70D9-1AAF5A739EBD}"/>
              </a:ext>
            </a:extLst>
          </p:cNvPr>
          <p:cNvSpPr txBox="1"/>
          <p:nvPr/>
        </p:nvSpPr>
        <p:spPr>
          <a:xfrm>
            <a:off x="4861518" y="6435380"/>
            <a:ext cx="1893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 action="ppaction://hlinksldjump"/>
              </a:rPr>
              <a:t>(5)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24C12-0263-EAF1-801C-308FD998E5FF}"/>
              </a:ext>
            </a:extLst>
          </p:cNvPr>
          <p:cNvSpPr txBox="1"/>
          <p:nvPr/>
        </p:nvSpPr>
        <p:spPr>
          <a:xfrm>
            <a:off x="8429146" y="5330309"/>
            <a:ext cx="32861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9" action="ppaction://hlinksldjump"/>
              </a:rPr>
              <a:t>(6)</a:t>
            </a:r>
            <a:r>
              <a:rPr lang="en-US" dirty="0"/>
              <a:t> Still in progress, aligning the dataset for quarterly</a:t>
            </a:r>
          </a:p>
        </p:txBody>
      </p:sp>
    </p:spTree>
    <p:extLst>
      <p:ext uri="{BB962C8B-B14F-4D97-AF65-F5344CB8AC3E}">
        <p14:creationId xmlns:p14="http://schemas.microsoft.com/office/powerpoint/2010/main" val="85608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F7489-897A-0CD0-F69B-805A1C03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77FB97-6566-2EDE-DC4A-772325CB9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9" y="26593"/>
            <a:ext cx="10547733" cy="6721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64D6DD-191E-3A75-E611-3412E7D6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24" y="0"/>
            <a:ext cx="9526605" cy="660293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Pipeline Construction </a:t>
            </a:r>
          </a:p>
        </p:txBody>
      </p:sp>
      <p:sp>
        <p:nvSpPr>
          <p:cNvPr id="11" name="Rectangle 10">
            <a:hlinkClick r:id="rId4" action="ppaction://hlinksldjump"/>
            <a:extLst>
              <a:ext uri="{FF2B5EF4-FFF2-40B4-BE49-F238E27FC236}">
                <a16:creationId xmlns:a16="http://schemas.microsoft.com/office/drawing/2014/main" id="{F9C3A945-CD1A-5B1D-D058-4F8B3B51625E}"/>
              </a:ext>
            </a:extLst>
          </p:cNvPr>
          <p:cNvSpPr/>
          <p:nvPr/>
        </p:nvSpPr>
        <p:spPr>
          <a:xfrm>
            <a:off x="139548" y="1606656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2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99E70-0041-3C0D-1A3D-AA98E17E7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694668" cy="35661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DA1413-19B3-555B-0066-C7BA1D9A3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9" y="26593"/>
            <a:ext cx="10547733" cy="6721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CF1898-651A-B345-5E74-589E7835E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92" y="232753"/>
            <a:ext cx="10890929" cy="1097280"/>
          </a:xfrm>
        </p:spPr>
        <p:txBody>
          <a:bodyPr/>
          <a:lstStyle/>
          <a:p>
            <a:r>
              <a:rPr lang="en-US" dirty="0"/>
              <a:t>(0.1) CRSP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4A3401-A4DE-4505-E178-7501DDFD5C85}"/>
              </a:ext>
            </a:extLst>
          </p:cNvPr>
          <p:cNvSpPr/>
          <p:nvPr/>
        </p:nvSpPr>
        <p:spPr>
          <a:xfrm>
            <a:off x="2311684" y="1924556"/>
            <a:ext cx="1894115" cy="257552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59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9816-68D1-6D19-1792-0C5A747D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4710-92A6-9D96-2BC9-3016B924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(0.1) CRSP: Apply RET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D463-2725-E6B0-8AF9-C689778A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694668" cy="35661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44147-0370-CCE1-A9C4-F0DF1041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47" y="1199583"/>
            <a:ext cx="5539709" cy="5658417"/>
          </a:xfrm>
          <a:prstGeom prst="rect">
            <a:avLst/>
          </a:prstGeom>
        </p:spPr>
      </p:pic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5C086910-73DA-26D9-A9F8-1E0AE883E337}"/>
              </a:ext>
            </a:extLst>
          </p:cNvPr>
          <p:cNvSpPr/>
          <p:nvPr/>
        </p:nvSpPr>
        <p:spPr>
          <a:xfrm>
            <a:off x="10015813" y="331057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17573-ED5F-7895-BA63-B05CA8847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89" y="2201161"/>
            <a:ext cx="5207565" cy="437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1757E-98E3-1F63-7FCC-B128A514A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703319"/>
            <a:ext cx="10890928" cy="3566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4E73E-335D-959E-623B-B00AF0E21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9" y="136321"/>
            <a:ext cx="10547733" cy="6721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9D4747-BBE4-BB67-1640-444AD61EC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(0.2) </a:t>
            </a:r>
            <a:r>
              <a:rPr lang="en-US" dirty="0" err="1"/>
              <a:t>PyPortfolioOpt</a:t>
            </a:r>
            <a:r>
              <a:rPr lang="en-US" dirty="0"/>
              <a:t> library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35625-DB04-5CDB-1517-76FDE16A5988}"/>
              </a:ext>
            </a:extLst>
          </p:cNvPr>
          <p:cNvSpPr/>
          <p:nvPr/>
        </p:nvSpPr>
        <p:spPr>
          <a:xfrm>
            <a:off x="1504719" y="5006803"/>
            <a:ext cx="8276279" cy="176806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22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A67C-2505-9566-3F3B-FED3F388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C810-3100-A78C-1307-026EAE7C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(0.2) </a:t>
            </a:r>
            <a:r>
              <a:rPr lang="en-US" dirty="0" err="1"/>
              <a:t>PyPortfolioOpt</a:t>
            </a:r>
            <a:r>
              <a:rPr lang="en-US" dirty="0"/>
              <a:t> library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https://</a:t>
            </a:r>
            <a:r>
              <a:rPr lang="en-US" dirty="0" err="1"/>
              <a:t>pyportfolioopt.readthedocs.io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/latest/</a:t>
            </a:r>
            <a:r>
              <a:rPr lang="en-US" dirty="0" err="1"/>
              <a:t>BlackLitterman.html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8AC07-BAC0-1D6C-D898-6C2D3111E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703319"/>
            <a:ext cx="10890928" cy="356616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4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7538-F8F8-1945-89C4-3139E2F9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F86D7-7EF1-B5CF-B283-993187D0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83847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(0.2) </a:t>
            </a:r>
            <a:r>
              <a:rPr lang="en-US" dirty="0" err="1"/>
              <a:t>PyPortfolioOpt</a:t>
            </a:r>
            <a:r>
              <a:rPr lang="en-US" dirty="0"/>
              <a:t>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09342-CA5A-46DA-9A2E-C3CF7DE97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703319"/>
            <a:ext cx="10890928" cy="3566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E7A64-D8BD-3E21-2684-2FC9E6E1D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793" y="2251946"/>
            <a:ext cx="5698950" cy="4340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38C01F-FB4D-4260-EA6A-EEE7162A374C}"/>
              </a:ext>
            </a:extLst>
          </p:cNvPr>
          <p:cNvSpPr txBox="1"/>
          <p:nvPr/>
        </p:nvSpPr>
        <p:spPr>
          <a:xfrm>
            <a:off x="5625645" y="1882614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Delta</a:t>
            </a:r>
          </a:p>
        </p:txBody>
      </p:sp>
    </p:spTree>
    <p:extLst>
      <p:ext uri="{BB962C8B-B14F-4D97-AF65-F5344CB8AC3E}">
        <p14:creationId xmlns:p14="http://schemas.microsoft.com/office/powerpoint/2010/main" val="3568394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827F-CDDF-DB07-AF29-8B8A5F89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AF7B6-4402-9FE6-92A7-D9EA17279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83847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(0.2) </a:t>
            </a:r>
            <a:r>
              <a:rPr lang="en-US" dirty="0" err="1"/>
              <a:t>PyPortfolioOpt</a:t>
            </a:r>
            <a:r>
              <a:rPr lang="en-US" dirty="0"/>
              <a:t>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F915-54E7-C2A0-2C10-E26BABB3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703319"/>
            <a:ext cx="10890928" cy="356616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91D2A-1399-87CE-282C-D23FE331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08" y="2322764"/>
            <a:ext cx="5491915" cy="4132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6A52C7-02FB-4B16-6341-1983AC358D1B}"/>
              </a:ext>
            </a:extLst>
          </p:cNvPr>
          <p:cNvSpPr txBox="1"/>
          <p:nvPr/>
        </p:nvSpPr>
        <p:spPr>
          <a:xfrm>
            <a:off x="5455921" y="18876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Cov_Matrix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93E5DD-E478-75C1-AAAF-7FE80501B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029" y="2322764"/>
            <a:ext cx="5073099" cy="442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5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F0BE-2039-E188-2F3C-4933EDEB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3B6C-E98B-237D-C925-4F75AAA7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83847"/>
            <a:ext cx="10890929" cy="1097280"/>
          </a:xfrm>
        </p:spPr>
        <p:txBody>
          <a:bodyPr>
            <a:normAutofit/>
          </a:bodyPr>
          <a:lstStyle/>
          <a:p>
            <a:r>
              <a:rPr lang="en-US" dirty="0"/>
              <a:t>(0.2) </a:t>
            </a:r>
            <a:r>
              <a:rPr lang="en-US" dirty="0" err="1"/>
              <a:t>PyPortfolioOpt</a:t>
            </a:r>
            <a:r>
              <a:rPr lang="en-US" dirty="0"/>
              <a:t>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5123D-0D68-9DF1-BD43-D81763C3D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459" y="1808251"/>
            <a:ext cx="5769621" cy="4902009"/>
          </a:xfrm>
          <a:prstGeom prst="rect">
            <a:avLst/>
          </a:prstGeo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E5C11C62-596F-8013-5CDF-062D61595DDE}"/>
              </a:ext>
            </a:extLst>
          </p:cNvPr>
          <p:cNvSpPr/>
          <p:nvPr/>
        </p:nvSpPr>
        <p:spPr>
          <a:xfrm>
            <a:off x="10015813" y="331057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459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C863B-D79F-A589-9CC2-31D15ED22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522846" cy="356616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DA1F4-D681-6897-13AA-037AAF59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9" y="136321"/>
            <a:ext cx="10547733" cy="672167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2B592C-AD96-EAF5-CC12-EC7962C35B49}"/>
              </a:ext>
            </a:extLst>
          </p:cNvPr>
          <p:cNvSpPr/>
          <p:nvPr/>
        </p:nvSpPr>
        <p:spPr>
          <a:xfrm>
            <a:off x="4518837" y="2751706"/>
            <a:ext cx="1254642" cy="109728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E0A72-8D5F-9FB5-12F8-2D0C10E8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34" y="83135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(1) Which Fund to pick?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846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EBE4F-EBBA-FB8B-4966-34C6C3BC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0675-1989-1A48-637F-8554E2C5F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61394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(1) Which Fund to pick?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What others do? </a:t>
            </a:r>
            <a:r>
              <a:rPr lang="en-US" dirty="0"/>
              <a:t>HFU = FEHF + Quantitative Fund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BD603-8101-4CDB-F440-931ACCA5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522846" cy="356616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HFU: Hedge Fund Universe</a:t>
            </a:r>
          </a:p>
          <a:p>
            <a:pPr lvl="1"/>
            <a:r>
              <a:rPr lang="en-US" altLang="zh-CN" dirty="0"/>
              <a:t>All Hedge Fund in 13 F</a:t>
            </a:r>
          </a:p>
          <a:p>
            <a:r>
              <a:rPr lang="en-US" b="1" dirty="0">
                <a:solidFill>
                  <a:srgbClr val="FF0000"/>
                </a:solidFill>
              </a:rPr>
              <a:t>FEHF: Fundamental Equity Hedge Fund</a:t>
            </a:r>
          </a:p>
          <a:p>
            <a:pPr lvl="1"/>
            <a:r>
              <a:rPr lang="en-US" dirty="0"/>
              <a:t>Hedge Funds that are more long-term focused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CF4E33-B9D3-B740-A065-77C3C61D9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926" y="2828752"/>
            <a:ext cx="7772400" cy="31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72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7C55-786B-DA76-B2F3-5FAC4985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6E81-CD0E-C790-1135-291C98D0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323315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Which fund to pick in 13 F (45 day lag)?</a:t>
            </a: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What others do?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/>
              <a:t>Copycat Quantitative fund = alpha decay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319F-50F2-1A79-0CB9-D25689BD0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522846" cy="3566160"/>
          </a:xfrm>
        </p:spPr>
        <p:txBody>
          <a:bodyPr/>
          <a:lstStyle/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B7EF54-C023-4352-A675-DDDE0D348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18876"/>
            <a:ext cx="10567840" cy="41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50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9E7A-F486-EF4C-E070-E92C1392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6041-D2CC-B4AA-4CE8-C62EE8F97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74653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(1)</a:t>
            </a:r>
            <a:r>
              <a:rPr lang="zh-CN" altLang="en-US" dirty="0"/>
              <a:t> </a:t>
            </a:r>
            <a:r>
              <a:rPr lang="en-US" altLang="zh-CN" dirty="0"/>
              <a:t>Which fund to pick in 13 F (45 day lag)?</a:t>
            </a: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What I’m </a:t>
            </a:r>
            <a:r>
              <a:rPr lang="en-US" altLang="zh-CN" dirty="0" err="1">
                <a:solidFill>
                  <a:srgbClr val="FF0000"/>
                </a:solidFill>
              </a:rPr>
              <a:t>gonna</a:t>
            </a:r>
            <a:r>
              <a:rPr lang="en-US" altLang="zh-CN" dirty="0">
                <a:solidFill>
                  <a:srgbClr val="FF0000"/>
                </a:solidFill>
              </a:rPr>
              <a:t> do?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CF335-3B72-4CE0-386F-C93B22B60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1257753" cy="356616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Step1: Establish target stock universe (14 Tech stocks)</a:t>
            </a:r>
          </a:p>
          <a:p>
            <a:pPr lvl="1"/>
            <a:r>
              <a:rPr lang="en-US" sz="2800" dirty="0"/>
              <a:t>Step2: Filter out fund that invest in the stock universe</a:t>
            </a:r>
          </a:p>
          <a:p>
            <a:pPr lvl="1"/>
            <a:r>
              <a:rPr lang="en-US" sz="2800" dirty="0"/>
              <a:t>Step3: Quantify to find the ‘Expert Fund’ for my target stock universe </a:t>
            </a:r>
          </a:p>
          <a:p>
            <a:pPr lvl="2"/>
            <a:r>
              <a:rPr lang="en-US" sz="2400" dirty="0"/>
              <a:t>Coverage ratio: e.g. 9/14, 1/14, 14/14 of target universe</a:t>
            </a:r>
          </a:p>
          <a:p>
            <a:pPr lvl="2"/>
            <a:r>
              <a:rPr lang="en-US" sz="2400" dirty="0"/>
              <a:t>Average investment size:</a:t>
            </a:r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15B81BF1-5268-4FE9-81D1-2C2235452ADE}"/>
              </a:ext>
            </a:extLst>
          </p:cNvPr>
          <p:cNvSpPr/>
          <p:nvPr/>
        </p:nvSpPr>
        <p:spPr>
          <a:xfrm>
            <a:off x="10041063" y="927710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36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7076-1489-2CD2-7BA7-01F59ACD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8C00-EC87-9946-8C96-CFD5D245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1783569" cy="1097280"/>
          </a:xfrm>
        </p:spPr>
        <p:txBody>
          <a:bodyPr>
            <a:normAutofit/>
          </a:bodyPr>
          <a:lstStyle/>
          <a:p>
            <a:r>
              <a:rPr lang="en-US" dirty="0"/>
              <a:t>(2.1) Calculate P – Literature Review – </a:t>
            </a:r>
            <a:r>
              <a:rPr lang="en-US" dirty="0">
                <a:solidFill>
                  <a:srgbClr val="FF0000"/>
                </a:solidFill>
              </a:rPr>
              <a:t>Best Idea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0DA6F1-06B6-6CC6-9801-0D2FED2B0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5A4565-F3E8-ED44-BEA5-9358F35BB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" y="2305807"/>
            <a:ext cx="10646155" cy="416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85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9F9D9-5279-224E-45DB-180DD732F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00F993-0DBC-9162-7E1C-2181505E0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A29D08-1B27-2757-38A3-21D6CFBC7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9" y="136321"/>
            <a:ext cx="10547733" cy="67216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008DCC-730A-AC25-F17A-8F286D044780}"/>
              </a:ext>
            </a:extLst>
          </p:cNvPr>
          <p:cNvSpPr/>
          <p:nvPr/>
        </p:nvSpPr>
        <p:spPr>
          <a:xfrm>
            <a:off x="4258552" y="4567891"/>
            <a:ext cx="1748843" cy="176806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4C172-C556-7FBB-5889-A8E78FEC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431" y="0"/>
            <a:ext cx="11783569" cy="1097280"/>
          </a:xfrm>
        </p:spPr>
        <p:txBody>
          <a:bodyPr>
            <a:normAutofit/>
          </a:bodyPr>
          <a:lstStyle/>
          <a:p>
            <a:r>
              <a:rPr lang="en-US" dirty="0"/>
              <a:t>(2.1) Calculate P – Literature Review – </a:t>
            </a:r>
            <a:r>
              <a:rPr lang="en-US" dirty="0">
                <a:solidFill>
                  <a:srgbClr val="FF0000"/>
                </a:solidFill>
              </a:rPr>
              <a:t>Best Idea</a:t>
            </a:r>
          </a:p>
        </p:txBody>
      </p:sp>
    </p:spTree>
    <p:extLst>
      <p:ext uri="{BB962C8B-B14F-4D97-AF65-F5344CB8AC3E}">
        <p14:creationId xmlns:p14="http://schemas.microsoft.com/office/powerpoint/2010/main" val="2613508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5109D-1030-D248-4BA0-A4834EA8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C986-A803-152D-7F53-80D585C1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68401"/>
            <a:ext cx="11381233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(2.1) Calculate P – Literature Review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Portfolio = “Best Idea” + Other zero-alpha position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93F670-54B8-0A6E-3ADE-4FF8341FE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823" y="2375133"/>
            <a:ext cx="10542354" cy="402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08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A5FD-4A0A-21FC-EB51-CDC1A987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90352"/>
            <a:ext cx="11893297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(2.1) Calculate P – Literature Review</a:t>
            </a:r>
            <a:br>
              <a:rPr lang="en-US" dirty="0"/>
            </a:br>
            <a:r>
              <a:rPr lang="en-US" dirty="0"/>
              <a:t>Tilt – Methodology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finding best ideas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11EA-3603-21A3-6ADE-5885B441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941" y="2606040"/>
            <a:ext cx="5948289" cy="3566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Higher Tilts means higher conviction for certain stock</a:t>
            </a:r>
          </a:p>
          <a:p>
            <a:r>
              <a:rPr lang="en-US" dirty="0" err="1"/>
              <a:t>Market_Tilts</a:t>
            </a:r>
            <a:endParaRPr lang="en-US" dirty="0"/>
          </a:p>
          <a:p>
            <a:r>
              <a:rPr lang="en-US" dirty="0" err="1"/>
              <a:t>CAPM_Tilts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Higher risk means higher conviction</a:t>
            </a:r>
          </a:p>
          <a:p>
            <a:r>
              <a:rPr lang="en-US" dirty="0" err="1"/>
              <a:t>Portfolio_Tilts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Value-weighted internal benchmark is uniquely based on the market cap percentage for each fund manager</a:t>
            </a:r>
          </a:p>
          <a:p>
            <a:r>
              <a:rPr lang="en-US" dirty="0" err="1"/>
              <a:t>CAPM_Portfolio_Tilts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1B230-4B48-E6E0-FA87-ED67C0AF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93768"/>
            <a:ext cx="5133109" cy="418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719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5A510-3346-B4CB-77A5-AFD790C7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49" y="245506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(2.1) After finding best idea, construct P</a:t>
            </a:r>
            <a:br>
              <a:rPr lang="en-US" dirty="0"/>
            </a:br>
            <a:r>
              <a:rPr lang="en-US" dirty="0"/>
              <a:t>           What I’m </a:t>
            </a:r>
            <a:r>
              <a:rPr lang="en-US" dirty="0" err="1"/>
              <a:t>gonna</a:t>
            </a:r>
            <a:r>
              <a:rPr lang="en-US" dirty="0"/>
              <a:t> do?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AE72B8-558E-0D69-604F-746046983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3612" y="2413607"/>
            <a:ext cx="6126188" cy="3951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D73BFF-9407-5431-72DD-0E2A5979B3C5}"/>
              </a:ext>
            </a:extLst>
          </p:cNvPr>
          <p:cNvSpPr txBox="1"/>
          <p:nvPr/>
        </p:nvSpPr>
        <p:spPr>
          <a:xfrm>
            <a:off x="640079" y="1807029"/>
            <a:ext cx="48463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don’t like equal-weighted portfolio.</a:t>
            </a:r>
          </a:p>
          <a:p>
            <a:endParaRPr lang="en-US" dirty="0"/>
          </a:p>
          <a:p>
            <a:r>
              <a:rPr lang="en-US" dirty="0"/>
              <a:t>I think for Black-</a:t>
            </a:r>
            <a:r>
              <a:rPr lang="en-US" dirty="0" err="1"/>
              <a:t>litterman</a:t>
            </a:r>
            <a:r>
              <a:rPr lang="en-US" dirty="0"/>
              <a:t>, the P matrix should be assign P to “Best Ideas”(based on market-tilt) based on money invested, other take 0.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1DB54-B1D7-EAF3-8E94-46B82D404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3519215"/>
            <a:ext cx="4846321" cy="4802063"/>
          </a:xfrm>
          <a:prstGeom prst="rect">
            <a:avLst/>
          </a:prstGeom>
        </p:spPr>
      </p:pic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D3144CDB-01B6-8642-CB45-A21FE5F683A3}"/>
              </a:ext>
            </a:extLst>
          </p:cNvPr>
          <p:cNvSpPr/>
          <p:nvPr/>
        </p:nvSpPr>
        <p:spPr>
          <a:xfrm>
            <a:off x="10041063" y="466836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913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FB342A-C222-D9D6-ACE1-06C0D8245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831117-800C-E443-321B-A6F6AED8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9" y="136321"/>
            <a:ext cx="10547733" cy="67216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AF60EF5-EAEF-0EEE-A1B9-C4B3671B19C4}"/>
              </a:ext>
            </a:extLst>
          </p:cNvPr>
          <p:cNvSpPr/>
          <p:nvPr/>
        </p:nvSpPr>
        <p:spPr>
          <a:xfrm>
            <a:off x="4284920" y="4537980"/>
            <a:ext cx="1679945" cy="176613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43BD3-675F-3A96-4F83-334F53A4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58" y="0"/>
            <a:ext cx="10890929" cy="1097280"/>
          </a:xfrm>
        </p:spPr>
        <p:txBody>
          <a:bodyPr/>
          <a:lstStyle/>
          <a:p>
            <a:r>
              <a:rPr lang="en-US" dirty="0"/>
              <a:t>(2.3) Calculate </a:t>
            </a:r>
            <a:r>
              <a:rPr lang="en-US" dirty="0" err="1"/>
              <a:t>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282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148E3-639C-6A5A-6ED3-363CA9DA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95E6-0398-08FF-01F1-099714B2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(2.3) Calculate </a:t>
            </a:r>
            <a:r>
              <a:rPr lang="en-US" dirty="0" err="1"/>
              <a:t>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143E-B8AC-076D-A047-97AE4C663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048" y="5840161"/>
            <a:ext cx="10890928" cy="3566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He and </a:t>
            </a:r>
            <a:r>
              <a:rPr lang="en-US" b="1" dirty="0" err="1">
                <a:solidFill>
                  <a:srgbClr val="FF0000"/>
                </a:solidFill>
              </a:rPr>
              <a:t>Litterman</a:t>
            </a:r>
            <a:r>
              <a:rPr lang="en-US" b="1" dirty="0">
                <a:solidFill>
                  <a:srgbClr val="FF0000"/>
                </a:solidFill>
              </a:rPr>
              <a:t> (1999)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E6415-D408-C326-907F-09F36E018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445" y="761967"/>
            <a:ext cx="5541364" cy="4724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DCF59-DB05-EEF4-7E2B-238B70A54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87" y="2468881"/>
            <a:ext cx="5980313" cy="273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32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3642-84A3-4189-7014-BF4B2359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D0655-E158-A550-CF94-D9A384A7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(2.3) Calculate </a:t>
            </a:r>
            <a:r>
              <a:rPr lang="en-US" dirty="0" err="1"/>
              <a:t>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A57FB-7E6C-DB3E-82EF-BEACCFBF2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5537" y="5994323"/>
            <a:ext cx="10890928" cy="356616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    The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Black-</a:t>
            </a:r>
            <a:r>
              <a:rPr lang="en-US" altLang="zh-CN" b="1" dirty="0" err="1">
                <a:solidFill>
                  <a:srgbClr val="FF0000"/>
                </a:solidFill>
              </a:rPr>
              <a:t>Litterman</a:t>
            </a:r>
            <a:r>
              <a:rPr lang="en-US" altLang="zh-CN" b="1" dirty="0">
                <a:solidFill>
                  <a:srgbClr val="FF0000"/>
                </a:solidFill>
              </a:rPr>
              <a:t> Model Library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D7C0A987-7F0F-7405-41C4-8B0B322FBD05}"/>
              </a:ext>
            </a:extLst>
          </p:cNvPr>
          <p:cNvSpPr/>
          <p:nvPr/>
        </p:nvSpPr>
        <p:spPr>
          <a:xfrm>
            <a:off x="10381001" y="100942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F6181-727E-8710-60BF-93478035E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685" y="1740565"/>
            <a:ext cx="4855029" cy="404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24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A6A5-5067-639F-F232-76136BAD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(2.3) Calculate </a:t>
            </a:r>
            <a:r>
              <a:rPr lang="en-US" dirty="0" err="1"/>
              <a:t>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305A3-6993-337F-149A-034DCB20B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545D83-665B-7B6F-7C1F-8038E12C5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451" y="2297602"/>
            <a:ext cx="6285271" cy="444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52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D94B-FD82-2FE4-DB10-04EA57C9D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D4D94-5749-A48F-F459-2E9104728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522846" cy="3566160"/>
          </a:xfrm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5DA38EA9-1D61-480A-48F6-37840583D1AD}"/>
              </a:ext>
            </a:extLst>
          </p:cNvPr>
          <p:cNvSpPr/>
          <p:nvPr/>
        </p:nvSpPr>
        <p:spPr>
          <a:xfrm>
            <a:off x="10041063" y="466836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38F1F5-E722-CB6E-7F81-767B88F4C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9" y="136321"/>
            <a:ext cx="10547733" cy="672167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BD31EA-F6AB-AF27-66BC-01C1D3CABAEF}"/>
              </a:ext>
            </a:extLst>
          </p:cNvPr>
          <p:cNvSpPr/>
          <p:nvPr/>
        </p:nvSpPr>
        <p:spPr>
          <a:xfrm>
            <a:off x="5537687" y="5102352"/>
            <a:ext cx="3338684" cy="109728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8F14C7-2EA7-3F58-C196-491B2DF8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49" y="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(3) Benchmark Testing - </a:t>
            </a:r>
            <a:r>
              <a:rPr lang="en-US" altLang="zh-CN" dirty="0"/>
              <a:t>47</a:t>
            </a:r>
            <a:r>
              <a:rPr lang="zh-CN" altLang="en-US" dirty="0"/>
              <a:t> </a:t>
            </a:r>
            <a:r>
              <a:rPr lang="en-US" altLang="zh-CN" dirty="0"/>
              <a:t>day</a:t>
            </a:r>
            <a:r>
              <a:rPr lang="zh-CN" altLang="en-US" dirty="0"/>
              <a:t> </a:t>
            </a:r>
            <a:r>
              <a:rPr lang="en-US" altLang="zh-CN" dirty="0"/>
              <a:t>lag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19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5441E-E90C-AC01-23AC-0847C39DF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25EE-7CCD-BC91-A4CE-4CBBB40C0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(3) Benchmark Testing - </a:t>
            </a:r>
            <a:r>
              <a:rPr lang="en-US" altLang="zh-CN" dirty="0"/>
              <a:t>47</a:t>
            </a:r>
            <a:r>
              <a:rPr lang="zh-CN" altLang="en-US" dirty="0"/>
              <a:t> </a:t>
            </a:r>
            <a:r>
              <a:rPr lang="en-US" altLang="zh-CN" dirty="0"/>
              <a:t>day</a:t>
            </a:r>
            <a:r>
              <a:rPr lang="zh-CN" altLang="en-US" dirty="0"/>
              <a:t> </a:t>
            </a:r>
            <a:r>
              <a:rPr lang="en-US" altLang="zh-CN" dirty="0"/>
              <a:t>lag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4D205-3FE4-F997-5418-BA04B666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3522846" cy="3566160"/>
          </a:xfrm>
        </p:spPr>
        <p:txBody>
          <a:bodyPr/>
          <a:lstStyle/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B86C8B-D0BD-DAEA-FF9F-ABEE668E4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53" y="1975104"/>
            <a:ext cx="8316352" cy="1991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979F9-91A8-2F65-208D-5EA00BD6F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753" y="4007867"/>
            <a:ext cx="7795954" cy="285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321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9523-4B58-F7DD-5542-E6C946FC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(3) Benchmark Testing - </a:t>
            </a:r>
            <a:r>
              <a:rPr lang="en-US" altLang="zh-CN" dirty="0"/>
              <a:t>47</a:t>
            </a:r>
            <a:r>
              <a:rPr lang="zh-CN" altLang="en-US" dirty="0"/>
              <a:t> </a:t>
            </a:r>
            <a:r>
              <a:rPr lang="en-US" altLang="zh-CN" dirty="0"/>
              <a:t>day</a:t>
            </a:r>
            <a:r>
              <a:rPr lang="zh-CN" altLang="en-US" dirty="0"/>
              <a:t> </a:t>
            </a:r>
            <a:r>
              <a:rPr lang="en-US" altLang="zh-CN" dirty="0"/>
              <a:t>lag</a:t>
            </a:r>
            <a:endParaRPr lang="en-US" dirty="0"/>
          </a:p>
        </p:txBody>
      </p:sp>
      <p:pic>
        <p:nvPicPr>
          <p:cNvPr id="5" name="Content Placeholder 4" descr="A close-up of a note&#10;&#10;Description automatically generated">
            <a:extLst>
              <a:ext uri="{FF2B5EF4-FFF2-40B4-BE49-F238E27FC236}">
                <a16:creationId xmlns:a16="http://schemas.microsoft.com/office/drawing/2014/main" id="{2693F640-7736-6096-D210-66765EF21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775" y="2633663"/>
            <a:ext cx="8913812" cy="3565525"/>
          </a:xfrm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19422B7-109D-2B0A-5358-2F3FA1A775BB}"/>
              </a:ext>
            </a:extLst>
          </p:cNvPr>
          <p:cNvSpPr/>
          <p:nvPr/>
        </p:nvSpPr>
        <p:spPr>
          <a:xfrm>
            <a:off x="10041063" y="466836"/>
            <a:ext cx="1717288" cy="654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Return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996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AADB-897B-22B7-23E7-132FC5FD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A39FF-9EB8-74A9-D0CF-771A00AB2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EEF2E-8A15-2801-C70F-70210FB03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19990"/>
              </p:ext>
            </p:extLst>
          </p:nvPr>
        </p:nvGraphicFramePr>
        <p:xfrm>
          <a:off x="660992" y="2109364"/>
          <a:ext cx="10870017" cy="43368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3339">
                  <a:extLst>
                    <a:ext uri="{9D8B030D-6E8A-4147-A177-3AD203B41FA5}">
                      <a16:colId xmlns:a16="http://schemas.microsoft.com/office/drawing/2014/main" val="1437098519"/>
                    </a:ext>
                  </a:extLst>
                </a:gridCol>
                <a:gridCol w="3989231">
                  <a:extLst>
                    <a:ext uri="{9D8B030D-6E8A-4147-A177-3AD203B41FA5}">
                      <a16:colId xmlns:a16="http://schemas.microsoft.com/office/drawing/2014/main" val="2574087089"/>
                    </a:ext>
                  </a:extLst>
                </a:gridCol>
                <a:gridCol w="3257447">
                  <a:extLst>
                    <a:ext uri="{9D8B030D-6E8A-4147-A177-3AD203B41FA5}">
                      <a16:colId xmlns:a16="http://schemas.microsoft.com/office/drawing/2014/main" val="1097176176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Supervisor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207247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June 27-July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37109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4 – July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 Part1</a:t>
                      </a:r>
                      <a:br>
                        <a:rPr lang="en-US" dirty="0"/>
                      </a:br>
                      <a:r>
                        <a:rPr lang="en-US" dirty="0"/>
                        <a:t>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Today, 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81046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July 23 – August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Development </a:t>
                      </a:r>
                      <a:br>
                        <a:rPr lang="en-US" dirty="0"/>
                      </a:br>
                      <a:r>
                        <a:rPr lang="en-US" dirty="0"/>
                        <a:t>Writing main Chapters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6833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5 – August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Writing main chapters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Contact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0434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August 16-August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Polish </a:t>
                      </a:r>
                      <a:r>
                        <a:rPr lang="en-US" dirty="0" err="1"/>
                        <a:t>draf</a:t>
                      </a:r>
                      <a:r>
                        <a:rPr lang="en-US" dirty="0"/>
                        <a:t>, submit to 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60091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August 23- August 29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Further polishing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11518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September 1 – September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Polish &amp; Submit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915996"/>
                  </a:ext>
                </a:extLst>
              </a:tr>
            </a:tbl>
          </a:graphicData>
        </a:graphic>
      </p:graphicFrame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CBA9E902-D058-87CA-5DDD-699D1B351932}"/>
              </a:ext>
            </a:extLst>
          </p:cNvPr>
          <p:cNvSpPr/>
          <p:nvPr/>
        </p:nvSpPr>
        <p:spPr>
          <a:xfrm>
            <a:off x="9382230" y="799778"/>
            <a:ext cx="2004291" cy="4895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72401175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18975</TotalTime>
  <Words>698</Words>
  <Application>Microsoft Macintosh PowerPoint</Application>
  <PresentationFormat>Widescreen</PresentationFormat>
  <Paragraphs>112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Grandview Display</vt:lpstr>
      <vt:lpstr>DashVTI</vt:lpstr>
      <vt:lpstr>Dissertation Briefing</vt:lpstr>
      <vt:lpstr>Quick Recap:</vt:lpstr>
      <vt:lpstr>Table of Content</vt:lpstr>
      <vt:lpstr>Model Pipeline Construction – Last time</vt:lpstr>
      <vt:lpstr>Model Pipeline Construction </vt:lpstr>
      <vt:lpstr>(0.1) CRSP</vt:lpstr>
      <vt:lpstr>(0.1) CRSP: Apply RET </vt:lpstr>
      <vt:lpstr>(0.2) PyPortfolioOpt library  </vt:lpstr>
      <vt:lpstr>(0.2) PyPortfolioOpt library  https://pyportfolioopt.readthedocs.io/en/latest/BlackLitterman.html</vt:lpstr>
      <vt:lpstr>(0.2) PyPortfolioOpt library</vt:lpstr>
      <vt:lpstr>(0.2) PyPortfolioOpt library</vt:lpstr>
      <vt:lpstr>(0.2) PyPortfolioOpt library</vt:lpstr>
      <vt:lpstr>(1) Which Fund to pick?   </vt:lpstr>
      <vt:lpstr>(1) Which Fund to pick?  What others do? HFU = FEHF + Quantitative Fund </vt:lpstr>
      <vt:lpstr>(1) Which fund to pick in 13 F (45 day lag)? What others do? Copycat Quantitative fund = alpha decay </vt:lpstr>
      <vt:lpstr>(1) Which fund to pick in 13 F (45 day lag)? What I’m gonna do? </vt:lpstr>
      <vt:lpstr>(2.1) Calculate P – Literature Review – Best Idea</vt:lpstr>
      <vt:lpstr>(2.1) Calculate P – Literature Review – Best Idea</vt:lpstr>
      <vt:lpstr>(2.1) Calculate P – Literature Review Portfolio = “Best Idea” + Other zero-alpha position</vt:lpstr>
      <vt:lpstr>(2.1) Calculate P – Literature Review Tilt – Methodology for finding best ideas</vt:lpstr>
      <vt:lpstr>(2.1) After finding best idea, construct P            What I’m gonna do? </vt:lpstr>
      <vt:lpstr>(2.3) Calculate Ω</vt:lpstr>
      <vt:lpstr>(2.3) Calculate Ω</vt:lpstr>
      <vt:lpstr>(2.3) Calculate Ω</vt:lpstr>
      <vt:lpstr>(2.3) Calculate Ω</vt:lpstr>
      <vt:lpstr>(3) Benchmark Testing - 47 day lag  </vt:lpstr>
      <vt:lpstr>(3) Benchmark Testing - 47 day lag  </vt:lpstr>
      <vt:lpstr>(3) Benchmark Testing - 47 day lag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Liangxiao LI</dc:creator>
  <cp:lastModifiedBy>Liangxiao LI</cp:lastModifiedBy>
  <cp:revision>7</cp:revision>
  <dcterms:created xsi:type="dcterms:W3CDTF">2025-06-22T09:43:48Z</dcterms:created>
  <dcterms:modified xsi:type="dcterms:W3CDTF">2025-07-18T21:36:57Z</dcterms:modified>
</cp:coreProperties>
</file>