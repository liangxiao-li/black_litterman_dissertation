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4"/>
  </p:notesMasterIdLst>
  <p:sldIdLst>
    <p:sldId id="256" r:id="rId2"/>
    <p:sldId id="281" r:id="rId3"/>
    <p:sldId id="284" r:id="rId4"/>
    <p:sldId id="282" r:id="rId5"/>
    <p:sldId id="283" r:id="rId6"/>
    <p:sldId id="287" r:id="rId7"/>
    <p:sldId id="289" r:id="rId8"/>
    <p:sldId id="291" r:id="rId9"/>
    <p:sldId id="292" r:id="rId10"/>
    <p:sldId id="293" r:id="rId11"/>
    <p:sldId id="290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2"/>
    <p:restoredTop sz="94835"/>
  </p:normalViewPr>
  <p:slideViewPr>
    <p:cSldViewPr snapToGrid="0">
      <p:cViewPr varScale="1">
        <p:scale>
          <a:sx n="115" d="100"/>
          <a:sy n="115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DD892-7AB0-B44D-B232-A583B63FD29B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F34BA-E12B-5346-9BF1-0229B93A4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1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F34BA-E12B-5346-9BF1-0229B93A49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15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F34BA-E12B-5346-9BF1-0229B93A49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22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F34BA-E12B-5346-9BF1-0229B93A49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9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F34BA-E12B-5346-9BF1-0229B93A49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894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F34BA-E12B-5346-9BF1-0229B93A49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6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92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1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881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91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7/9/25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41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7/9/25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561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7/9/25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97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66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37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4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545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91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image" Target="../media/image2.png"/><Relationship Id="rId5" Type="http://schemas.openxmlformats.org/officeDocument/2006/relationships/slide" Target="slide5.xml"/><Relationship Id="rId10" Type="http://schemas.openxmlformats.org/officeDocument/2006/relationships/slide" Target="slide12.xml"/><Relationship Id="rId4" Type="http://schemas.openxmlformats.org/officeDocument/2006/relationships/slide" Target="slide4.xml"/><Relationship Id="rId9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Colourful wavy concept">
            <a:extLst>
              <a:ext uri="{FF2B5EF4-FFF2-40B4-BE49-F238E27FC236}">
                <a16:creationId xmlns:a16="http://schemas.microsoft.com/office/drawing/2014/main" id="{DDD81079-ECB4-565D-17B9-832A5F3FAD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73" b="13157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6600" y="1066800"/>
            <a:ext cx="4681728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178785-778D-0D79-58A8-64B42A849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9722" y="1562101"/>
            <a:ext cx="3884568" cy="2738530"/>
          </a:xfrm>
        </p:spPr>
        <p:txBody>
          <a:bodyPr anchor="t">
            <a:normAutofit/>
          </a:bodyPr>
          <a:lstStyle/>
          <a:p>
            <a:r>
              <a:rPr lang="en-US" sz="4800" dirty="0"/>
              <a:t>Dissertation</a:t>
            </a:r>
            <a:br>
              <a:rPr lang="en-US" sz="4800" dirty="0"/>
            </a:br>
            <a:r>
              <a:rPr lang="en-US" sz="4800" dirty="0"/>
              <a:t>Briefing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0BA30-7780-97A7-6338-E4A07245D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9722" y="4321622"/>
            <a:ext cx="3813048" cy="941832"/>
          </a:xfrm>
        </p:spPr>
        <p:txBody>
          <a:bodyPr>
            <a:normAutofit lnSpcReduction="10000"/>
          </a:bodyPr>
          <a:lstStyle/>
          <a:p>
            <a:r>
              <a:rPr lang="en-US" sz="2000" dirty="0" err="1"/>
              <a:t>Liangxiao</a:t>
            </a:r>
            <a:r>
              <a:rPr lang="en-US" sz="2000" dirty="0"/>
              <a:t> LI</a:t>
            </a:r>
          </a:p>
          <a:p>
            <a:r>
              <a:rPr lang="en-US" sz="2000" dirty="0"/>
              <a:t>7.04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619035" y="3435440"/>
            <a:ext cx="0" cy="469087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702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F689-C0EA-F49A-5289-ED350C849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B0E3E-3269-F4B1-4B4D-3C3F5E3C4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hlinkClick r:id="rId3" action="ppaction://hlinksldjump"/>
              </a:rPr>
              <a:t>Portfolio Selection</a:t>
            </a:r>
            <a:endParaRPr lang="en-US" dirty="0"/>
          </a:p>
          <a:p>
            <a:r>
              <a:rPr lang="en-US" dirty="0"/>
              <a:t>Data Cleaning</a:t>
            </a:r>
          </a:p>
          <a:p>
            <a:pPr lvl="1"/>
            <a:r>
              <a:rPr lang="en-US" dirty="0">
                <a:hlinkClick r:id="rId4" action="ppaction://hlinksldjump"/>
              </a:rPr>
              <a:t>Macro</a:t>
            </a:r>
            <a:r>
              <a:rPr lang="en-US" dirty="0"/>
              <a:t> - Quarterly</a:t>
            </a:r>
          </a:p>
          <a:p>
            <a:pPr lvl="1"/>
            <a:r>
              <a:rPr lang="en-US" dirty="0">
                <a:hlinkClick r:id="rId5" action="ppaction://hlinksldjump"/>
              </a:rPr>
              <a:t>Fundamental</a:t>
            </a:r>
            <a:r>
              <a:rPr lang="en-US" dirty="0"/>
              <a:t> - Yearly</a:t>
            </a:r>
          </a:p>
          <a:p>
            <a:pPr lvl="1"/>
            <a:r>
              <a:rPr lang="en-US" dirty="0">
                <a:hlinkClick r:id="rId6" action="ppaction://hlinksldjump"/>
              </a:rPr>
              <a:t>13 F</a:t>
            </a:r>
            <a:r>
              <a:rPr lang="en-US" dirty="0"/>
              <a:t> - Quarterly</a:t>
            </a:r>
          </a:p>
          <a:p>
            <a:pPr lvl="1"/>
            <a:r>
              <a:rPr lang="en-US" dirty="0">
                <a:hlinkClick r:id="rId7" action="ppaction://hlinksldjump"/>
              </a:rPr>
              <a:t>Historical Stock Price</a:t>
            </a:r>
            <a:r>
              <a:rPr lang="en-US" dirty="0"/>
              <a:t> - Daily</a:t>
            </a:r>
          </a:p>
          <a:p>
            <a:r>
              <a:rPr lang="en-US" dirty="0">
                <a:hlinkClick r:id="rId8" action="ppaction://hlinksldjump"/>
              </a:rPr>
              <a:t>Variable dimension Breakdown</a:t>
            </a:r>
            <a:endParaRPr lang="en-US" dirty="0"/>
          </a:p>
          <a:p>
            <a:r>
              <a:rPr lang="en-US" dirty="0">
                <a:hlinkClick r:id="rId9" action="ppaction://hlinksldjump"/>
              </a:rPr>
              <a:t>LaTeX Dissertation Progress</a:t>
            </a:r>
            <a:endParaRPr lang="en-US" dirty="0"/>
          </a:p>
          <a:p>
            <a:r>
              <a:rPr lang="en-US" dirty="0">
                <a:hlinkClick r:id="rId10" action="ppaction://hlinksldjump"/>
              </a:rPr>
              <a:t>Timeline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C126EE-388C-B36A-17CA-CC22E28D2D2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37966" y="2468881"/>
            <a:ext cx="7651731" cy="342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149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DDF54-23ED-8E88-BB7D-2321E0A7E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Portofolio</a:t>
            </a:r>
            <a:r>
              <a:rPr lang="en-US" dirty="0"/>
              <a:t> Selections</a:t>
            </a:r>
            <a:br>
              <a:rPr lang="en-US" dirty="0"/>
            </a:br>
            <a:r>
              <a:rPr lang="en-US" dirty="0"/>
              <a:t>(14 Tech sector stocks)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62047-C16A-2459-7983-BD21002F7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Mega-cap tech</a:t>
            </a:r>
            <a:r>
              <a:rPr lang="en-US" dirty="0"/>
              <a:t>: AAPL, MSFT(</a:t>
            </a:r>
            <a:r>
              <a:rPr lang="en-US" dirty="0" err="1"/>
              <a:t>IaaS,SaaS</a:t>
            </a:r>
            <a:r>
              <a:rPr lang="en-US" dirty="0"/>
              <a:t>), AMZN(IaaS), GOOGL, META, NVDA</a:t>
            </a:r>
          </a:p>
          <a:p>
            <a:pPr lvl="1"/>
            <a:r>
              <a:rPr lang="en-US" dirty="0"/>
              <a:t>Stable</a:t>
            </a:r>
            <a:r>
              <a:rPr lang="zh-CN" altLang="en-US" dirty="0"/>
              <a:t> </a:t>
            </a:r>
            <a:r>
              <a:rPr lang="en-US" altLang="zh-CN" dirty="0"/>
              <a:t>Stocks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High-conviction growth</a:t>
            </a:r>
            <a:r>
              <a:rPr lang="en-US" dirty="0"/>
              <a:t>: TSLA, AMD(Design CPUGPU), PLTR(AI Platform), SNOW(PaaS</a:t>
            </a:r>
            <a:r>
              <a:rPr lang="en-US" altLang="zh-CN" dirty="0"/>
              <a:t>/SaaS</a:t>
            </a:r>
            <a:r>
              <a:rPr lang="en-US" dirty="0"/>
              <a:t>), SHOP(Ecommerce)</a:t>
            </a:r>
          </a:p>
          <a:p>
            <a:pPr lvl="1"/>
            <a:r>
              <a:rPr lang="en-US" dirty="0"/>
              <a:t>Volatile stocks</a:t>
            </a:r>
          </a:p>
          <a:p>
            <a:r>
              <a:rPr lang="en-US" b="1" dirty="0">
                <a:solidFill>
                  <a:srgbClr val="FF0000"/>
                </a:solidFill>
              </a:rPr>
              <a:t>Subsector representation</a:t>
            </a:r>
            <a:r>
              <a:rPr lang="en-US" dirty="0"/>
              <a:t>: ASML (</a:t>
            </a:r>
            <a:r>
              <a:rPr lang="en-US" dirty="0" err="1"/>
              <a:t>semicon</a:t>
            </a:r>
            <a:r>
              <a:rPr lang="zh-CN" altLang="en-US" dirty="0"/>
              <a:t> </a:t>
            </a:r>
            <a:r>
              <a:rPr lang="en-US" altLang="zh-CN" dirty="0"/>
              <a:t>equipment</a:t>
            </a:r>
            <a:r>
              <a:rPr lang="en-US" dirty="0"/>
              <a:t>), CRM (SaaS), PANW (cybersecurity)</a:t>
            </a:r>
          </a:p>
          <a:p>
            <a:pPr lvl="1"/>
            <a:r>
              <a:rPr lang="en-US" dirty="0"/>
              <a:t>Other important Tech related stocks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5BA1AF0B-3A6A-88EF-DC76-74AE557DF685}"/>
              </a:ext>
            </a:extLst>
          </p:cNvPr>
          <p:cNvSpPr/>
          <p:nvPr/>
        </p:nvSpPr>
        <p:spPr>
          <a:xfrm>
            <a:off x="9834633" y="1207010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066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1D204-93ED-4586-255F-F836142DB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Cleaning – Macro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22694-D162-B253-4D8B-791BC889E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6003FA-0597-CA0A-793A-042F5FD60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519" y="2162710"/>
            <a:ext cx="7836962" cy="4452819"/>
          </a:xfrm>
          <a:prstGeom prst="rect">
            <a:avLst/>
          </a:prstGeom>
        </p:spPr>
      </p:pic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1A0E5A9E-C8E4-9C57-46D0-3F8B00EBDFA8}"/>
              </a:ext>
            </a:extLst>
          </p:cNvPr>
          <p:cNvSpPr/>
          <p:nvPr/>
        </p:nvSpPr>
        <p:spPr>
          <a:xfrm>
            <a:off x="10014481" y="331057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51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5D0C0-E1F9-3E6C-A7BF-07BD7B90D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49749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Data Cleaning - Fundamental</a:t>
            </a:r>
            <a:br>
              <a:rPr lang="en-US" dirty="0"/>
            </a:br>
            <a:r>
              <a:rPr lang="en-US" dirty="0" err="1"/>
              <a:t>M</a:t>
            </a:r>
            <a:r>
              <a:rPr lang="en-US" altLang="zh-CN" dirty="0" err="1"/>
              <a:t>erged_BS</a:t>
            </a:r>
            <a:r>
              <a:rPr lang="en-US" altLang="zh-CN" dirty="0"/>
              <a:t>, </a:t>
            </a:r>
            <a:r>
              <a:rPr lang="en-US" dirty="0" err="1"/>
              <a:t>M</a:t>
            </a:r>
            <a:r>
              <a:rPr lang="en-US" altLang="zh-CN" dirty="0" err="1"/>
              <a:t>erged_CFS</a:t>
            </a:r>
            <a:r>
              <a:rPr lang="en-US" altLang="zh-CN" dirty="0"/>
              <a:t>, </a:t>
            </a:r>
            <a:r>
              <a:rPr lang="en-US" dirty="0" err="1"/>
              <a:t>M</a:t>
            </a:r>
            <a:r>
              <a:rPr lang="en-US" altLang="zh-CN" dirty="0" err="1"/>
              <a:t>erged_IS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C5A14-8D49-442A-F79B-679229247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A4CC08-B448-91D4-26E8-68F489212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25" y="2277742"/>
            <a:ext cx="2958906" cy="42776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66A4C9-6888-C601-805A-8AD8E0A43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523" y="2279487"/>
            <a:ext cx="4580370" cy="4275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8BC891-9C61-BE6C-AB48-4F5F66744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224" y="2277742"/>
            <a:ext cx="3897567" cy="4025857"/>
          </a:xfrm>
          <a:prstGeom prst="rect">
            <a:avLst/>
          </a:prstGeom>
        </p:spPr>
      </p:pic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07571726-12D1-DB47-D7E6-870C1CADFD1D}"/>
              </a:ext>
            </a:extLst>
          </p:cNvPr>
          <p:cNvSpPr/>
          <p:nvPr/>
        </p:nvSpPr>
        <p:spPr>
          <a:xfrm>
            <a:off x="10091007" y="395128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339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DDEDA-350F-19AE-092B-D1E1FE674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Cleaning </a:t>
            </a:r>
            <a:br>
              <a:rPr lang="en-US" dirty="0"/>
            </a:br>
            <a:r>
              <a:rPr lang="en-US" dirty="0"/>
              <a:t>13 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B4AD2-8728-51D6-ADCF-577F01E06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69661C-6244-FE25-28FE-749802A85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651" y="325232"/>
            <a:ext cx="6524204" cy="6381987"/>
          </a:xfrm>
          <a:prstGeom prst="rect">
            <a:avLst/>
          </a:prstGeom>
        </p:spPr>
      </p:pic>
      <p:sp>
        <p:nvSpPr>
          <p:cNvPr id="10" name="Rectangle 9">
            <a:hlinkClick r:id="rId4" action="ppaction://hlinksldjump"/>
            <a:extLst>
              <a:ext uri="{FF2B5EF4-FFF2-40B4-BE49-F238E27FC236}">
                <a16:creationId xmlns:a16="http://schemas.microsoft.com/office/drawing/2014/main" id="{FF7C6B89-157E-0D3B-9A7C-8B54D6C4AC66}"/>
              </a:ext>
            </a:extLst>
          </p:cNvPr>
          <p:cNvSpPr/>
          <p:nvPr/>
        </p:nvSpPr>
        <p:spPr>
          <a:xfrm>
            <a:off x="448691" y="6036912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694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3C0BA-A6CA-AE13-7939-3B2B04BCA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Cleaning</a:t>
            </a:r>
            <a:br>
              <a:rPr lang="en-US" dirty="0"/>
            </a:br>
            <a:r>
              <a:rPr lang="en-US" dirty="0"/>
              <a:t>Historical</a:t>
            </a:r>
            <a:r>
              <a:rPr lang="zh-CN" altLang="en-US" dirty="0"/>
              <a:t> </a:t>
            </a:r>
            <a:r>
              <a:rPr lang="en-US" altLang="zh-CN" dirty="0"/>
              <a:t>Stock Price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34A19-8B52-7B0B-53D6-7653EE0D9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9EF979E1-B3E9-7A3D-4C51-CA889C043BEB}"/>
              </a:ext>
            </a:extLst>
          </p:cNvPr>
          <p:cNvSpPr/>
          <p:nvPr/>
        </p:nvSpPr>
        <p:spPr>
          <a:xfrm>
            <a:off x="481771" y="5872321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4E757A-C34E-DC7F-2DAF-EBDFCD1F3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426" y="258231"/>
            <a:ext cx="5323188" cy="634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948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D481C-AEE5-1ED7-9B0D-3D4CE9C02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Dimension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2EEDE-EFC2-F9E3-6F78-41145D5DF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1948EF-22C4-F80C-1EAE-DCDC72650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599" y="2633472"/>
            <a:ext cx="10707701" cy="4897693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340DF6E6-21FF-3755-301F-451E440DF4EC}"/>
              </a:ext>
            </a:extLst>
          </p:cNvPr>
          <p:cNvSpPr/>
          <p:nvPr/>
        </p:nvSpPr>
        <p:spPr>
          <a:xfrm>
            <a:off x="1018457" y="4263533"/>
            <a:ext cx="276522" cy="1368000"/>
          </a:xfrm>
          <a:prstGeom prst="leftBrace">
            <a:avLst/>
          </a:prstGeom>
          <a:ln w="508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3D0896-5772-5FBA-9C50-A75188B253DA}"/>
              </a:ext>
            </a:extLst>
          </p:cNvPr>
          <p:cNvSpPr txBox="1"/>
          <p:nvPr/>
        </p:nvSpPr>
        <p:spPr>
          <a:xfrm>
            <a:off x="28074" y="4624367"/>
            <a:ext cx="1145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Investor View</a:t>
            </a:r>
          </a:p>
        </p:txBody>
      </p:sp>
    </p:spTree>
    <p:extLst>
      <p:ext uri="{BB962C8B-B14F-4D97-AF65-F5344CB8AC3E}">
        <p14:creationId xmlns:p14="http://schemas.microsoft.com/office/powerpoint/2010/main" val="4010742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EF352-CCE4-A8EF-3CD2-0A0B105C4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73" y="1282804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Which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 hedge funds?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94465-D3A9-0465-1ED5-272C1C2FE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76" y="2181780"/>
            <a:ext cx="6554495" cy="4373256"/>
          </a:xfrm>
        </p:spPr>
        <p:txBody>
          <a:bodyPr>
            <a:normAutofit/>
          </a:bodyPr>
          <a:lstStyle/>
          <a:p>
            <a:r>
              <a:rPr lang="en-GB" dirty="0"/>
              <a:t>Select hedge funds that cumulatively account for the </a:t>
            </a:r>
            <a:r>
              <a:rPr lang="en-GB" b="1" dirty="0">
                <a:solidFill>
                  <a:srgbClr val="FF0000"/>
                </a:solidFill>
              </a:rPr>
              <a:t>top 90% of portfolio holdings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for each individual stock.</a:t>
            </a:r>
            <a:r>
              <a:rPr lang="en-US" dirty="0"/>
              <a:t>Include them all into our P and Q</a:t>
            </a:r>
          </a:p>
          <a:p>
            <a:r>
              <a:rPr lang="en-GB" dirty="0"/>
              <a:t>Take the </a:t>
            </a:r>
            <a:r>
              <a:rPr lang="en-GB" b="1" dirty="0"/>
              <a:t>union</a:t>
            </a:r>
            <a:r>
              <a:rPr lang="en-GB" dirty="0"/>
              <a:t> of these hedge funds across all 14 tech stocks, and include them in the construction of </a:t>
            </a:r>
            <a:r>
              <a:rPr lang="en-GB" b="1" dirty="0"/>
              <a:t>P and Q matrices</a:t>
            </a:r>
            <a:r>
              <a:rPr lang="en-GB" dirty="0"/>
              <a:t>.</a:t>
            </a:r>
            <a:endParaRPr lang="en-US" dirty="0"/>
          </a:p>
          <a:p>
            <a:r>
              <a:rPr lang="en-US" dirty="0"/>
              <a:t>For example, Hedge Fund A hold 30% holding in Apple but only 0.1% in Amazon</a:t>
            </a:r>
          </a:p>
          <a:p>
            <a:pPr lvl="1"/>
            <a:r>
              <a:rPr lang="en-US" dirty="0"/>
              <a:t>Then in the P matrix it will have higher weight to Apple and negligible weight to Amazon</a:t>
            </a:r>
          </a:p>
          <a:p>
            <a:pPr lvl="1"/>
            <a:r>
              <a:rPr lang="en-US" dirty="0"/>
              <a:t>The P matrix will likely be Sparse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3B79F0-55EE-820C-40BF-F95AD26F0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043236"/>
            <a:ext cx="5562600" cy="551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15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57A6F-4786-35A3-79E5-74BD2A8B2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F3C8D-29E0-54D8-F14D-1E5611C8B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73" y="1282804"/>
            <a:ext cx="10890929" cy="1097280"/>
          </a:xfrm>
        </p:spPr>
        <p:txBody>
          <a:bodyPr>
            <a:normAutofit/>
          </a:bodyPr>
          <a:lstStyle/>
          <a:p>
            <a:r>
              <a:rPr lang="en-US" sz="3600" dirty="0"/>
              <a:t>How to get P, Q, </a:t>
            </a:r>
            <a:r>
              <a:rPr lang="en-US" sz="3600" dirty="0" err="1"/>
              <a:t>Ω</a:t>
            </a:r>
            <a:r>
              <a:rPr lang="en-US" sz="3600" dirty="0"/>
              <a:t> with 13F?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EE5FA-E047-7835-130E-872D9FA22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76" y="2181780"/>
            <a:ext cx="6554495" cy="437325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dirty="0"/>
              <a:t>: Simply based on the weight of each portfolio</a:t>
            </a:r>
          </a:p>
          <a:p>
            <a:r>
              <a:rPr lang="en-US" dirty="0">
                <a:solidFill>
                  <a:srgbClr val="FF0000"/>
                </a:solidFill>
              </a:rPr>
              <a:t>Q</a:t>
            </a:r>
            <a:r>
              <a:rPr lang="en-US" dirty="0"/>
              <a:t>: Apply certain model to predict future holding, then use this prediction to construct this View vector Q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Ω</a:t>
            </a:r>
            <a:r>
              <a:rPr lang="en-US" dirty="0"/>
              <a:t>: </a:t>
            </a:r>
            <a:r>
              <a:rPr lang="en-GB" dirty="0"/>
              <a:t>The more inaccurate a fund's past performance has been, the higher Omega it should be assigned</a:t>
            </a:r>
            <a:endParaRPr lang="en-US" dirty="0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4376B3AC-1FAD-C4DF-26D7-1A62A6BD48AD}"/>
              </a:ext>
            </a:extLst>
          </p:cNvPr>
          <p:cNvSpPr/>
          <p:nvPr/>
        </p:nvSpPr>
        <p:spPr>
          <a:xfrm>
            <a:off x="10028871" y="268831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BA7BCF-008C-6F75-D2B0-8D863AACC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043236"/>
            <a:ext cx="5562600" cy="551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153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CD1A9-123B-90AA-6C20-E7F7CD5D9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LaTeX Dissertation Progress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77CDF-CA9A-41ED-958C-9597AE447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565" y="2303076"/>
            <a:ext cx="11900264" cy="436604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Question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altLang="zh-CN" dirty="0"/>
              <a:t>Is this structure solid?</a:t>
            </a:r>
            <a:endParaRPr lang="en-GB" altLang="zh-CN" dirty="0"/>
          </a:p>
          <a:p>
            <a:r>
              <a:rPr lang="en-US" altLang="zh-CN" dirty="0"/>
              <a:t>Question2:</a:t>
            </a:r>
            <a:r>
              <a:rPr lang="zh-CN" altLang="en-US" dirty="0"/>
              <a:t> </a:t>
            </a:r>
            <a:r>
              <a:rPr lang="en-US" altLang="zh-CN" dirty="0"/>
              <a:t>My Next step:</a:t>
            </a:r>
          </a:p>
          <a:p>
            <a:pPr lvl="1"/>
            <a:r>
              <a:rPr lang="en-US" altLang="zh-CN" dirty="0"/>
              <a:t>Write Empirical Analysis</a:t>
            </a:r>
          </a:p>
          <a:p>
            <a:pPr lvl="2"/>
            <a:r>
              <a:rPr lang="en-US" altLang="zh-CN" dirty="0"/>
              <a:t>Enhance Likelihood (Investor View </a:t>
            </a:r>
            <a:r>
              <a:rPr lang="en-US" altLang="zh-CN" b="1" dirty="0">
                <a:solidFill>
                  <a:srgbClr val="FF0000"/>
                </a:solidFill>
              </a:rPr>
              <a:t>Q</a:t>
            </a:r>
            <a:r>
              <a:rPr lang="en-US" altLang="zh-CN" dirty="0"/>
              <a:t>)</a:t>
            </a:r>
          </a:p>
          <a:p>
            <a:pPr lvl="3"/>
            <a:r>
              <a:rPr lang="en-US" altLang="zh-CN" dirty="0"/>
              <a:t>Benchmark: </a:t>
            </a:r>
            <a:r>
              <a:rPr lang="en-US" altLang="zh-CN" dirty="0" err="1"/>
              <a:t>TabPFN</a:t>
            </a:r>
            <a:endParaRPr lang="en-US" altLang="zh-CN" dirty="0"/>
          </a:p>
          <a:p>
            <a:pPr lvl="4"/>
            <a:r>
              <a:rPr lang="en-US" altLang="zh-CN" dirty="0"/>
              <a:t>Input: Macro + 13 F</a:t>
            </a:r>
          </a:p>
          <a:p>
            <a:pPr lvl="4"/>
            <a:r>
              <a:rPr lang="en-US" altLang="zh-CN" dirty="0"/>
              <a:t>Output: Predicted Future Asset </a:t>
            </a:r>
            <a:r>
              <a:rPr lang="en-US" altLang="zh-CN" dirty="0" err="1"/>
              <a:t>HoldingFuture</a:t>
            </a:r>
            <a:r>
              <a:rPr lang="en-US" altLang="zh-CN" dirty="0"/>
              <a:t> Holding</a:t>
            </a:r>
          </a:p>
          <a:p>
            <a:pPr lvl="3"/>
            <a:r>
              <a:rPr lang="en-US" altLang="zh-CN" dirty="0"/>
              <a:t>Other model/methods: GAN, Transformer, Bayesian </a:t>
            </a:r>
            <a:r>
              <a:rPr lang="en-US" altLang="zh-CN" dirty="0" err="1"/>
              <a:t>emsemble</a:t>
            </a:r>
            <a:r>
              <a:rPr lang="en-US" altLang="zh-CN" dirty="0"/>
              <a:t> models</a:t>
            </a:r>
          </a:p>
          <a:p>
            <a:pPr lvl="2"/>
            <a:r>
              <a:rPr lang="en-US" altLang="zh-CN" dirty="0"/>
              <a:t>Enhance Prior (Expected Market Return </a:t>
            </a:r>
            <a:r>
              <a:rPr lang="en-US" altLang="zh-CN" b="1" dirty="0">
                <a:solidFill>
                  <a:srgbClr val="FF0000"/>
                </a:solidFill>
              </a:rPr>
              <a:t>E[R]</a:t>
            </a:r>
            <a:r>
              <a:rPr lang="en-US" altLang="zh-CN" dirty="0"/>
              <a:t>)</a:t>
            </a:r>
          </a:p>
          <a:p>
            <a:pPr lvl="3"/>
            <a:r>
              <a:rPr lang="en-US" altLang="zh-CN" dirty="0"/>
              <a:t>Benchmark: </a:t>
            </a:r>
            <a:r>
              <a:rPr lang="en-US" altLang="zh-CN" dirty="0" err="1"/>
              <a:t>TabPFN</a:t>
            </a:r>
            <a:r>
              <a:rPr lang="en-US" altLang="zh-CN" dirty="0"/>
              <a:t> </a:t>
            </a:r>
          </a:p>
          <a:p>
            <a:pPr lvl="4"/>
            <a:r>
              <a:rPr lang="en-US" altLang="zh-CN" dirty="0"/>
              <a:t>Input: Macro + Fundamental</a:t>
            </a:r>
          </a:p>
          <a:p>
            <a:pPr lvl="4"/>
            <a:r>
              <a:rPr lang="en-US" altLang="zh-CN" dirty="0"/>
              <a:t>Output: Expected return metrics</a:t>
            </a:r>
          </a:p>
          <a:p>
            <a:pPr lvl="3"/>
            <a:r>
              <a:rPr lang="en-US" altLang="zh-CN" dirty="0"/>
              <a:t>Other model/methods: ??? 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045F5B78-F4BB-DBC5-DC48-A6E3ACA175EC}"/>
              </a:ext>
            </a:extLst>
          </p:cNvPr>
          <p:cNvSpPr/>
          <p:nvPr/>
        </p:nvSpPr>
        <p:spPr>
          <a:xfrm>
            <a:off x="9382230" y="799778"/>
            <a:ext cx="2004291" cy="489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DD228D-B54E-EC67-DC43-BA94E7333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119" y="1779155"/>
            <a:ext cx="4876800" cy="47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264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7AADB-897B-22B7-23E7-132FC5FD7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A39FF-9EB8-74A9-D0CF-771A00AB2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BEEF2E-8A15-2801-C70F-70210FB03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132888"/>
              </p:ext>
            </p:extLst>
          </p:nvPr>
        </p:nvGraphicFramePr>
        <p:xfrm>
          <a:off x="660992" y="2109364"/>
          <a:ext cx="10870017" cy="420623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23339">
                  <a:extLst>
                    <a:ext uri="{9D8B030D-6E8A-4147-A177-3AD203B41FA5}">
                      <a16:colId xmlns:a16="http://schemas.microsoft.com/office/drawing/2014/main" val="1437098519"/>
                    </a:ext>
                  </a:extLst>
                </a:gridCol>
                <a:gridCol w="3989231">
                  <a:extLst>
                    <a:ext uri="{9D8B030D-6E8A-4147-A177-3AD203B41FA5}">
                      <a16:colId xmlns:a16="http://schemas.microsoft.com/office/drawing/2014/main" val="2574087089"/>
                    </a:ext>
                  </a:extLst>
                </a:gridCol>
                <a:gridCol w="3257447">
                  <a:extLst>
                    <a:ext uri="{9D8B030D-6E8A-4147-A177-3AD203B41FA5}">
                      <a16:colId xmlns:a16="http://schemas.microsoft.com/office/drawing/2014/main" val="1097176176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June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Supervisor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207247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June 27-July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Cleaning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Today</a:t>
                      </a:r>
                      <a:r>
                        <a:rPr lang="zh-CN" altLang="en-US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03710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July 4 – July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481046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July 23 – August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Development </a:t>
                      </a:r>
                      <a:br>
                        <a:rPr lang="en-US" dirty="0"/>
                      </a:br>
                      <a:r>
                        <a:rPr lang="en-US" dirty="0"/>
                        <a:t>Writing main Chapters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6833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August 5 – August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Writing main chapters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Contact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0434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August 16-August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Polish </a:t>
                      </a:r>
                      <a:r>
                        <a:rPr lang="en-US" dirty="0" err="1"/>
                        <a:t>draf</a:t>
                      </a:r>
                      <a:r>
                        <a:rPr lang="en-US" dirty="0"/>
                        <a:t>, submit to supervisor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60091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August 23- August 29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Further polishing 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11518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September 1 – September 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Polish &amp; Submit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915996"/>
                  </a:ext>
                </a:extLst>
              </a:tr>
            </a:tbl>
          </a:graphicData>
        </a:graphic>
      </p:graphicFrame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CBA9E902-D058-87CA-5DDD-699D1B351932}"/>
              </a:ext>
            </a:extLst>
          </p:cNvPr>
          <p:cNvSpPr/>
          <p:nvPr/>
        </p:nvSpPr>
        <p:spPr>
          <a:xfrm>
            <a:off x="9382230" y="799778"/>
            <a:ext cx="2004291" cy="489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72401175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9541</TotalTime>
  <Words>470</Words>
  <Application>Microsoft Macintosh PowerPoint</Application>
  <PresentationFormat>Widescreen</PresentationFormat>
  <Paragraphs>83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Grandview Display</vt:lpstr>
      <vt:lpstr>DashVTI</vt:lpstr>
      <vt:lpstr>Dissertation Briefing</vt:lpstr>
      <vt:lpstr>Table of Content</vt:lpstr>
      <vt:lpstr>Portofolio Selections (14 Tech sector stocks)</vt:lpstr>
      <vt:lpstr>Data Cleaning – Macro</vt:lpstr>
      <vt:lpstr>Data Cleaning - Fundamental Merged_BS, Merged_CFS, Merged_IS</vt:lpstr>
      <vt:lpstr>Data Cleaning  13 F</vt:lpstr>
      <vt:lpstr>Data Cleaning Historical Stock Price</vt:lpstr>
      <vt:lpstr>Variable Dimension Breakdown</vt:lpstr>
      <vt:lpstr>Which n hedge funds?</vt:lpstr>
      <vt:lpstr>How to get P, Q, Ω with 13F?</vt:lpstr>
      <vt:lpstr>LaTeX Dissertation Progress </vt:lpstr>
      <vt:lpstr>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Liangxiao LI</dc:creator>
  <cp:lastModifiedBy>Liangxiao LI</cp:lastModifiedBy>
  <cp:revision>3</cp:revision>
  <dcterms:created xsi:type="dcterms:W3CDTF">2025-06-22T09:43:48Z</dcterms:created>
  <dcterms:modified xsi:type="dcterms:W3CDTF">2025-07-09T09:53:42Z</dcterms:modified>
</cp:coreProperties>
</file>