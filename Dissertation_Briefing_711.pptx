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6" r:id="rId1"/>
  </p:sldMasterIdLst>
  <p:notesMasterIdLst>
    <p:notesMasterId r:id="rId16"/>
  </p:notesMasterIdLst>
  <p:sldIdLst>
    <p:sldId id="256" r:id="rId2"/>
    <p:sldId id="293" r:id="rId3"/>
    <p:sldId id="281" r:id="rId4"/>
    <p:sldId id="302" r:id="rId5"/>
    <p:sldId id="297" r:id="rId6"/>
    <p:sldId id="284" r:id="rId7"/>
    <p:sldId id="300" r:id="rId8"/>
    <p:sldId id="299" r:id="rId9"/>
    <p:sldId id="303" r:id="rId10"/>
    <p:sldId id="301" r:id="rId11"/>
    <p:sldId id="290" r:id="rId12"/>
    <p:sldId id="304" r:id="rId13"/>
    <p:sldId id="305" r:id="rId14"/>
    <p:sldId id="268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836"/>
    <p:restoredTop sz="94853"/>
  </p:normalViewPr>
  <p:slideViewPr>
    <p:cSldViewPr snapToGrid="0">
      <p:cViewPr>
        <p:scale>
          <a:sx n="114" d="100"/>
          <a:sy n="114" d="100"/>
        </p:scale>
        <p:origin x="560" y="3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71DD892-7AB0-B44D-B232-A583B63FD29B}" type="datetimeFigureOut">
              <a:rPr lang="en-US" smtClean="0"/>
              <a:t>7/9/25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70F34BA-E12B-5346-9BF1-0229B93A49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01164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A3358D-947D-8699-EBDF-2DD85AD213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1A7D19C-D14F-88A7-F0C5-B724DC9BFE2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895F33-D0F8-6986-2705-C398D48C21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8006A8-5EF4-F32A-BE65-6DF05B5358C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70F34BA-E12B-5346-9BF1-0229B93A49BC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132184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70F34BA-E12B-5346-9BF1-0229B93A49BC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371508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70F34BA-E12B-5346-9BF1-0229B93A49BC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400440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70F34BA-E12B-5346-9BF1-0229B93A49BC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062267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45610A-17B4-4656-93CF-E1D9982860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1371599"/>
            <a:ext cx="6675120" cy="2951825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51C80B-DFD6-415B-BA5B-E56E510CD1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0080" y="4584879"/>
            <a:ext cx="6675120" cy="1287887"/>
          </a:xfrm>
        </p:spPr>
        <p:txBody>
          <a:bodyPr anchor="b">
            <a:normAutofit/>
          </a:bodyPr>
          <a:lstStyle>
            <a:lvl1pPr marL="0" indent="0" algn="l">
              <a:lnSpc>
                <a:spcPct val="130000"/>
              </a:lnSpc>
              <a:buNone/>
              <a:defRPr sz="1800" b="1" cap="all" spc="30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A2065B-06FF-4991-9F8A-4BE25457B4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44479B-705B-4489-957E-7E8A228BDFA0}" type="datetime1">
              <a:rPr lang="en-US" smtClean="0"/>
              <a:t>7/9/25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0DF2FA-C604-45D8-A633-11D3742EC1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EE5DA9-2D04-4850-AB9F-BD35381650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98927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08B246-6A68-46BE-9DBD-614FA8CF4E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E47706-8D18-4093-A7C1-F30D7543CE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C7C8FC-AAEA-4AB6-9DB5-2503F58F0E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89F774-3FA6-43B8-9241-99959C8FD463}" type="datetime1">
              <a:rPr lang="en-US" smtClean="0"/>
              <a:t>7/9/25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B1616B-3F08-4869-A522-773C38940F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030CE6-9124-4B3A-A912-AE16B5C340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1016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71BB59B6-79B9-97F5-AC3B-DF65899D39D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6C78885-57B2-4930-BD7D-CBF916EDF1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291366"/>
            <a:ext cx="9214884" cy="3159974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E495E4-2F8B-4CC7-88AC-A312067E60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80" y="5018567"/>
            <a:ext cx="7907079" cy="1073889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585CC9-BAD3-4807-90BB-97DA2D6A6B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504452-5DCC-4FE2-A5C9-8A5EF6714D65}" type="datetime1">
              <a:rPr lang="en-US" smtClean="0"/>
              <a:t>7/9/25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108CEF-165F-4D7E-9666-5CD0156B49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0EBC3D-3277-4D34-9F67-71040C21E3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F05EAE5-4812-F718-6D75-9627884180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16281" y="4715234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408812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B477A4-4D01-45B6-9563-0BF13BA72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E17E00-96AC-45F0-82B2-9F601E9B93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40080" y="2633472"/>
            <a:ext cx="5212080" cy="35661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2BA30CD-95C0-427B-A571-A7D8A53278F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18928" y="2633472"/>
            <a:ext cx="5212080" cy="35661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F67CAC-53E4-44AF-BEAC-8FFB96F05A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79ABC2-0180-4F3A-A895-A85BC724D472}" type="datetime1">
              <a:rPr lang="en-US" smtClean="0"/>
              <a:t>7/9/25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3D9F3A-E7F0-45E7-AFA8-0D4A669EC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5F008B-58BB-45FF-923F-5909DAB49D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84911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97B549-9E51-42E0-992A-73E7759577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371599"/>
            <a:ext cx="10890929" cy="93975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1A5FDC-7C4B-45FB-8462-E2CE79919F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79" y="2311352"/>
            <a:ext cx="5212080" cy="695373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D8B686-2E92-45B9-A3D7-9DCAA0C50B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40079" y="3006725"/>
            <a:ext cx="5212080" cy="319125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6ADB526-4A44-47B6-8D14-93202E590AA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18928" y="2311352"/>
            <a:ext cx="5212080" cy="695373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4177CA-5C13-4311-BFD3-B98FBD942DA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318928" y="3006725"/>
            <a:ext cx="5212080" cy="319125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DEA255A-4CB5-40CA-B756-1AA5E27C20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EEA9BA-4E8F-439E-BEA4-91FBA01E3F5F}" type="datetime1">
              <a:rPr lang="en-US" smtClean="0"/>
              <a:t>7/9/25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F3072C4-10F1-49B8-B0BF-69204EDDCF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A5ACC97-44C1-4887-909B-E6732D3C1F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27416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27D313-943A-47E0-8A7A-DFFBCC297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3AC25A7-81C8-4AA1-AD9F-C78A451FDE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15BF18-0007-481C-AA29-413124BC3EE7}" type="datetime1">
              <a:rPr lang="en-US" smtClean="0"/>
              <a:t>7/9/25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EF54740-6022-46B2-9C55-B60E965168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89497C9-6B5E-46D6-8FE9-0A5E0CF7F9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65615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" name="Rectangle 4">
            <a:extLst>
              <a:ext uri="{FF2B5EF4-FFF2-40B4-BE49-F238E27FC236}">
                <a16:creationId xmlns:a16="http://schemas.microsoft.com/office/drawing/2014/main" id="{149F9F0F-FB8C-5565-247C-BDCC156B5CA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2740D3C-270A-401A-810C-2F86BBBB87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E9870-3748-43AD-B547-02A075CB4A1D}" type="datetime1">
              <a:rPr lang="en-US" smtClean="0"/>
              <a:t>7/9/25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DCBE9F8-1765-4F36-A4DE-1DB136025A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90CF9E-A6C6-4873-ADBE-7A2939319E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10975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08CDF8-00AD-4441-A6D5-9D7A659EB6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3859397" cy="1451723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C330AF-CB7E-420A-AE8A-E02E903258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36519" y="1031001"/>
            <a:ext cx="6594490" cy="516636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43257AD-2422-4CDA-9C55-700F4B5BF2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40080" y="2972168"/>
            <a:ext cx="3859397" cy="322682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1B7454-C1CC-46F2-A6FB-1FE786C48F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E7897-33C5-4F1A-9307-D068E37F3DC7}" type="datetime1">
              <a:rPr lang="en-US" smtClean="0"/>
              <a:t>7/9/25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077DBE-6CC7-421B-AB5E-341E20BD92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6EAB8F-7526-4CDB-B782-FAD8B3E70B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22668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31647F-5A61-44C9-81DC-331C9AE5DD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3859397" cy="1451723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1627A0F-F1B8-49BE-A0FF-7FE16E3BDCC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937760" y="1033271"/>
            <a:ext cx="6592824" cy="516636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86D1BD6-1519-4431-9FAF-7D4F412997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40080" y="2972167"/>
            <a:ext cx="3859397" cy="322682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A587A0-353B-42C2-BA96-B1ADEDF642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171BA-CC09-47C8-A6DF-F5C5CB59CEEC}" type="datetime1">
              <a:rPr lang="en-US" smtClean="0"/>
              <a:t>7/9/25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D5A88E-3957-4B76-B1BE-4164029217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F7C5FD-E56A-4C66-8F23-087F95A2F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59376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5E4BB7-3F30-4C31-9BB2-8EC24FC0A1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ECF4134-70F5-4EE6-88BE-49D129630C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9EABC7-C044-44DE-B303-55A0581DA1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B66AD-7C08-490A-ADA4-B47E10FB2407}" type="datetime1">
              <a:rPr lang="en-US" smtClean="0"/>
              <a:t>7/9/25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4A63E1-5BC5-402E-9916-BAB84BCF0B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2EF915-AF64-4ECC-8B1A-B7E6A89B79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1644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31CB3635-47E1-90D8-B693-DA85A66B383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Vertical Title 1">
            <a:extLst>
              <a:ext uri="{FF2B5EF4-FFF2-40B4-BE49-F238E27FC236}">
                <a16:creationId xmlns:a16="http://schemas.microsoft.com/office/drawing/2014/main" id="{6EB09414-2AA1-4D8E-A00A-C092FBC92D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209219" y="640079"/>
            <a:ext cx="1811773" cy="5536884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2C3A78-37C5-46D0-9DF4-CB78AF883C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40080" y="640080"/>
            <a:ext cx="8412422" cy="553688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D8705E-925D-4F57-8268-107CE3CF4C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95027-4255-49E7-9841-CD21BCC99996}" type="datetime1">
              <a:rPr lang="en-US" smtClean="0"/>
              <a:t>7/9/25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FE207E-070D-4EC8-A44C-21F1815FDA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5D01D1-C266-4161-A820-C084B98013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230604F-219C-2DEE-830E-27274CC2FE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rot="5400000">
            <a:off x="10872154" y="1192438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595453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AB4E786-7636-4278-8595-D365D28A79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371601"/>
            <a:ext cx="10890929" cy="109728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740849-7059-4C70-992B-5304D2EE9B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80" y="2633472"/>
            <a:ext cx="10890928" cy="35661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9FEBF6-CEA6-4332-87B3-697807571C8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4008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fld id="{7DA38F49-B3E2-4BF0-BEC7-C30D34ABBB8D}" type="datetime1">
              <a:rPr lang="en-US" smtClean="0"/>
              <a:t>7/9/25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6BAF94-621C-43E1-BA0C-410A6899031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67622" y="6356350"/>
            <a:ext cx="40403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7D19E5-9E16-48C9-AAE2-0C70679A8D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807995" y="6356350"/>
            <a:ext cx="7230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18E06E4-607B-144B-382B-AD3D06B1EE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13232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669176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  <p:sldLayoutId id="2147483678" r:id="rId4"/>
    <p:sldLayoutId id="2147483679" r:id="rId5"/>
    <p:sldLayoutId id="2147483685" r:id="rId6"/>
    <p:sldLayoutId id="2147483680" r:id="rId7"/>
    <p:sldLayoutId id="2147483681" r:id="rId8"/>
    <p:sldLayoutId id="2147483682" r:id="rId9"/>
    <p:sldLayoutId id="2147483684" r:id="rId10"/>
    <p:sldLayoutId id="2147483683" r:id="rId1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87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93776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51560" indent="-28575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298448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" Target="slide4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slide" Target="slide14.xml"/><Relationship Id="rId4" Type="http://schemas.openxmlformats.org/officeDocument/2006/relationships/slide" Target="slide1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slide" Target="slide9.xml"/><Relationship Id="rId3" Type="http://schemas.openxmlformats.org/officeDocument/2006/relationships/image" Target="../media/image3.png"/><Relationship Id="rId7" Type="http://schemas.openxmlformats.org/officeDocument/2006/relationships/slide" Target="slide7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6.xml"/><Relationship Id="rId4" Type="http://schemas.openxmlformats.org/officeDocument/2006/relationships/slide" Target="slide5.xml"/><Relationship Id="rId9" Type="http://schemas.openxmlformats.org/officeDocument/2006/relationships/slide" Target="slide10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slide" Target="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slide" Target="slide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slide" Target="slide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" Target="slide4.xml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" Target="slide4.xml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5" Type="http://schemas.openxmlformats.org/officeDocument/2006/relationships/slide" Target="slide4.xml"/><Relationship Id="rId4" Type="http://schemas.openxmlformats.org/officeDocument/2006/relationships/image" Target="../media/image14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" Target="slide3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slide" Target="slide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9F9BF86-FE94-4517-B97D-026C7515E5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randview Display"/>
              <a:ea typeface="+mn-ea"/>
              <a:cs typeface="+mn-cs"/>
            </a:endParaRPr>
          </a:p>
        </p:txBody>
      </p:sp>
      <p:pic>
        <p:nvPicPr>
          <p:cNvPr id="4" name="Picture 3" descr="Colourful wavy concept">
            <a:extLst>
              <a:ext uri="{FF2B5EF4-FFF2-40B4-BE49-F238E27FC236}">
                <a16:creationId xmlns:a16="http://schemas.microsoft.com/office/drawing/2014/main" id="{DDD81079-ECB4-565D-17B9-832A5F3FAD1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573" b="13157"/>
          <a:stretch>
            <a:fillRect/>
          </a:stretch>
        </p:blipFill>
        <p:spPr>
          <a:xfrm>
            <a:off x="1" y="10"/>
            <a:ext cx="12192000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36136311-C81B-47C5-AE0A-5641A5A595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276600" y="1066800"/>
            <a:ext cx="4681728" cy="4724400"/>
          </a:xfrm>
          <a:prstGeom prst="rect">
            <a:avLst/>
          </a:prstGeom>
          <a:solidFill>
            <a:schemeClr val="bg1">
              <a:alpha val="4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randview Display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D178785-778D-0D79-58A8-64B42A84994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769722" y="1562101"/>
            <a:ext cx="3884568" cy="2738530"/>
          </a:xfrm>
        </p:spPr>
        <p:txBody>
          <a:bodyPr anchor="t">
            <a:normAutofit/>
          </a:bodyPr>
          <a:lstStyle/>
          <a:p>
            <a:r>
              <a:rPr lang="en-US" sz="4800" dirty="0"/>
              <a:t>Dissertation</a:t>
            </a:r>
            <a:br>
              <a:rPr lang="en-US" sz="4800" dirty="0"/>
            </a:br>
            <a:r>
              <a:rPr lang="en-US" sz="4800" dirty="0"/>
              <a:t>Briefing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230BA30-7780-97A7-6338-E4A07245DE9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769722" y="4321622"/>
            <a:ext cx="3813048" cy="941832"/>
          </a:xfrm>
        </p:spPr>
        <p:txBody>
          <a:bodyPr>
            <a:normAutofit lnSpcReduction="10000"/>
          </a:bodyPr>
          <a:lstStyle/>
          <a:p>
            <a:r>
              <a:rPr lang="en-US" sz="2000" dirty="0" err="1"/>
              <a:t>Liangxiao</a:t>
            </a:r>
            <a:r>
              <a:rPr lang="en-US" sz="2000" dirty="0"/>
              <a:t> LI</a:t>
            </a:r>
          </a:p>
          <a:p>
            <a:r>
              <a:rPr lang="en-US" sz="2000" dirty="0"/>
              <a:t>7.11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7CC73A33-65FF-41A9-A3B0-006753CD10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rot="16200000">
            <a:off x="9619035" y="3435440"/>
            <a:ext cx="0" cy="4690872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6870264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034EA0-D8DF-E526-120E-9E57709DE4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0DC4E9-7C5F-321F-5F2C-598138984B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9019" y="1363614"/>
            <a:ext cx="10890929" cy="1097280"/>
          </a:xfrm>
        </p:spPr>
        <p:txBody>
          <a:bodyPr>
            <a:normAutofit fontScale="90000"/>
          </a:bodyPr>
          <a:lstStyle/>
          <a:p>
            <a:r>
              <a:rPr lang="en-US" sz="3600" dirty="0"/>
              <a:t>Quick Recap:</a:t>
            </a:r>
            <a:br>
              <a:rPr lang="en-US" sz="3600" dirty="0"/>
            </a:br>
            <a:r>
              <a:rPr lang="en-US" sz="3600" dirty="0"/>
              <a:t>How to get P, Q, </a:t>
            </a:r>
            <a:r>
              <a:rPr lang="en-US" sz="3600" dirty="0" err="1"/>
              <a:t>Ω</a:t>
            </a:r>
            <a:r>
              <a:rPr lang="en-US" sz="3600" dirty="0"/>
              <a:t> with 13F?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A55A73-FBCB-F843-8ED1-767B012912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9019" y="2768460"/>
            <a:ext cx="6554495" cy="4373256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P</a:t>
            </a:r>
            <a:r>
              <a:rPr lang="en-US" dirty="0"/>
              <a:t>: Simply based on the weight of each portfolio</a:t>
            </a:r>
          </a:p>
          <a:p>
            <a:r>
              <a:rPr lang="en-US" dirty="0">
                <a:solidFill>
                  <a:srgbClr val="FF0000"/>
                </a:solidFill>
              </a:rPr>
              <a:t>Q</a:t>
            </a:r>
            <a:r>
              <a:rPr lang="en-US" dirty="0"/>
              <a:t>: Apply certain model to predict future holding, then use this prediction to construct this View vector Q</a:t>
            </a:r>
          </a:p>
          <a:p>
            <a:r>
              <a:rPr lang="en-US" b="1" dirty="0" err="1">
                <a:solidFill>
                  <a:srgbClr val="FF0000"/>
                </a:solidFill>
              </a:rPr>
              <a:t>Ω</a:t>
            </a:r>
            <a:r>
              <a:rPr lang="en-US" dirty="0"/>
              <a:t>: </a:t>
            </a:r>
            <a:r>
              <a:rPr lang="en-GB" dirty="0"/>
              <a:t>The more inaccurate a fund's past performance has been, the higher Omega it should be assigned</a:t>
            </a:r>
            <a:endParaRPr lang="en-US" dirty="0"/>
          </a:p>
        </p:txBody>
      </p:sp>
      <p:sp>
        <p:nvSpPr>
          <p:cNvPr id="5" name="Rectangle 4">
            <a:hlinkClick r:id="rId3" action="ppaction://hlinksldjump"/>
            <a:extLst>
              <a:ext uri="{FF2B5EF4-FFF2-40B4-BE49-F238E27FC236}">
                <a16:creationId xmlns:a16="http://schemas.microsoft.com/office/drawing/2014/main" id="{34753DEC-98F8-F8C7-62ED-9A624AF5ACE2}"/>
              </a:ext>
            </a:extLst>
          </p:cNvPr>
          <p:cNvSpPr/>
          <p:nvPr/>
        </p:nvSpPr>
        <p:spPr>
          <a:xfrm>
            <a:off x="10028871" y="268831"/>
            <a:ext cx="1717288" cy="6546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/>
              <a:t>Return</a:t>
            </a:r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4F96EA9-E183-2AC3-B8CC-BA866C2B98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9894" y="1231018"/>
            <a:ext cx="5373087" cy="53240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1364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CFF689-C0EA-F49A-5289-ED350C8491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3799" y="1056557"/>
            <a:ext cx="10890929" cy="1097280"/>
          </a:xfrm>
        </p:spPr>
        <p:txBody>
          <a:bodyPr/>
          <a:lstStyle/>
          <a:p>
            <a:r>
              <a:rPr lang="en-US" dirty="0"/>
              <a:t>Table of Content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1B0E3E-3269-F4B1-4B4D-3C3F5E3C4B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3799" y="2763561"/>
            <a:ext cx="5881744" cy="3566160"/>
          </a:xfrm>
        </p:spPr>
        <p:txBody>
          <a:bodyPr>
            <a:normAutofit/>
          </a:bodyPr>
          <a:lstStyle/>
          <a:p>
            <a:r>
              <a:rPr lang="en-US" dirty="0">
                <a:hlinkClick r:id="rId3" action="ppaction://hlinksldjump"/>
              </a:rPr>
              <a:t>Model Pipeline Construction</a:t>
            </a:r>
            <a:endParaRPr lang="en-US" dirty="0"/>
          </a:p>
          <a:p>
            <a:r>
              <a:rPr lang="en-US" dirty="0">
                <a:hlinkClick r:id="rId4" action="ppaction://hlinksldjump"/>
              </a:rPr>
              <a:t>LaTeX Dissertation Progress and my next steps</a:t>
            </a:r>
            <a:r>
              <a:rPr lang="en-US" dirty="0">
                <a:hlinkClick r:id="rId4" action="ppaction://hlinksldjump"/>
              </a:rPr>
              <a:t>  </a:t>
            </a:r>
            <a:endParaRPr lang="en-US" dirty="0"/>
          </a:p>
          <a:p>
            <a:r>
              <a:rPr lang="en-US" dirty="0">
                <a:hlinkClick r:id="rId5" action="ppaction://hlinksldjump"/>
              </a:rPr>
              <a:t>Timeline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211499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9604A9-F414-B8D9-62F3-B3C913330A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09728"/>
            <a:ext cx="10890929" cy="1097280"/>
          </a:xfrm>
        </p:spPr>
        <p:txBody>
          <a:bodyPr/>
          <a:lstStyle/>
          <a:p>
            <a:r>
              <a:rPr lang="en-US" dirty="0"/>
              <a:t>Model Pipeline Construction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7344F8-071B-9994-5037-82587E744C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8DFEF4A0-BFCA-1D00-541D-6C5149AA61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9760" y="757195"/>
            <a:ext cx="9495239" cy="610080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963863C-F33A-C4AA-E5B5-CDBE916125CE}"/>
              </a:ext>
            </a:extLst>
          </p:cNvPr>
          <p:cNvSpPr txBox="1"/>
          <p:nvPr/>
        </p:nvSpPr>
        <p:spPr>
          <a:xfrm>
            <a:off x="4731126" y="1469656"/>
            <a:ext cx="3339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4" action="ppaction://hlinksldjump"/>
              </a:rPr>
              <a:t>(1)How 13 F Makes Money</a:t>
            </a:r>
            <a:endParaRPr lang="en-US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0B8A983-F612-2112-D14B-B2051D2A7BE8}"/>
              </a:ext>
            </a:extLst>
          </p:cNvPr>
          <p:cNvSpPr txBox="1"/>
          <p:nvPr/>
        </p:nvSpPr>
        <p:spPr>
          <a:xfrm>
            <a:off x="1108114" y="5281011"/>
            <a:ext cx="22154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5" action="ppaction://hlinksldjump"/>
              </a:rPr>
              <a:t>(2)Real PCT Change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6609280-D65D-8C44-BE87-39CFAA6B1474}"/>
              </a:ext>
            </a:extLst>
          </p:cNvPr>
          <p:cNvSpPr txBox="1"/>
          <p:nvPr/>
        </p:nvSpPr>
        <p:spPr>
          <a:xfrm>
            <a:off x="6494061" y="4843103"/>
            <a:ext cx="23248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6" action="ppaction://hlinksldjump"/>
              </a:rPr>
              <a:t>(3</a:t>
            </a:r>
            <a:r>
              <a:rPr lang="en-US" dirty="0">
                <a:hlinkClick r:id="rId7" action="ppaction://hlinksldjump"/>
              </a:rPr>
              <a:t>)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243BE95-6EC9-8C7F-82E9-A888FF9C7603}"/>
              </a:ext>
            </a:extLst>
          </p:cNvPr>
          <p:cNvSpPr txBox="1"/>
          <p:nvPr/>
        </p:nvSpPr>
        <p:spPr>
          <a:xfrm>
            <a:off x="3507823" y="5537208"/>
            <a:ext cx="270739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8" action="ppaction://hlinksldjump"/>
              </a:rPr>
              <a:t>(4)</a:t>
            </a: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A978B75-6675-3C31-45D0-2322DDD2F84E}"/>
              </a:ext>
            </a:extLst>
          </p:cNvPr>
          <p:cNvSpPr txBox="1"/>
          <p:nvPr/>
        </p:nvSpPr>
        <p:spPr>
          <a:xfrm>
            <a:off x="4861518" y="6435380"/>
            <a:ext cx="18935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9" action="ppaction://hlinksldjump"/>
              </a:rPr>
              <a:t>(5)</a:t>
            </a:r>
            <a:endParaRPr 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D762F77-ACB6-BE48-0472-26E9A914F929}"/>
              </a:ext>
            </a:extLst>
          </p:cNvPr>
          <p:cNvSpPr txBox="1"/>
          <p:nvPr/>
        </p:nvSpPr>
        <p:spPr>
          <a:xfrm>
            <a:off x="8429146" y="5330309"/>
            <a:ext cx="328610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9" action="ppaction://hlinksldjump"/>
              </a:rPr>
              <a:t>(6)</a:t>
            </a:r>
            <a:r>
              <a:rPr lang="en-US" dirty="0"/>
              <a:t> Still in progress, aligning the dataset for quarterly</a:t>
            </a:r>
          </a:p>
        </p:txBody>
      </p:sp>
    </p:spTree>
    <p:extLst>
      <p:ext uri="{BB962C8B-B14F-4D97-AF65-F5344CB8AC3E}">
        <p14:creationId xmlns:p14="http://schemas.microsoft.com/office/powerpoint/2010/main" val="4010597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29580D-6087-4392-3C25-E96BD4579E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8775" y="1361263"/>
            <a:ext cx="10890929" cy="1097280"/>
          </a:xfrm>
        </p:spPr>
        <p:txBody>
          <a:bodyPr/>
          <a:lstStyle/>
          <a:p>
            <a:r>
              <a:rPr lang="en-US" dirty="0"/>
              <a:t>(1) How 13 F makes money</a:t>
            </a:r>
          </a:p>
        </p:txBody>
      </p:sp>
      <p:sp>
        <p:nvSpPr>
          <p:cNvPr id="5" name="Rectangle 4">
            <a:hlinkClick r:id="rId2" action="ppaction://hlinksldjump"/>
            <a:extLst>
              <a:ext uri="{FF2B5EF4-FFF2-40B4-BE49-F238E27FC236}">
                <a16:creationId xmlns:a16="http://schemas.microsoft.com/office/drawing/2014/main" id="{90F2578B-A3AA-4F36-E554-A7D7EC90D7C7}"/>
              </a:ext>
            </a:extLst>
          </p:cNvPr>
          <p:cNvSpPr/>
          <p:nvPr/>
        </p:nvSpPr>
        <p:spPr>
          <a:xfrm>
            <a:off x="10081499" y="102977"/>
            <a:ext cx="1296250" cy="50305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/>
              <a:t>Return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70BB86D-4269-4D38-5A9C-6B6FE2BB5A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44245" y="606030"/>
            <a:ext cx="4024052" cy="298804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7DE12FF-51AD-B5CD-48DB-777CB5CA8E3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5877" y="2710069"/>
            <a:ext cx="6015657" cy="335810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A4F1186-1B73-2175-D778-91A794F76F9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00554" y="3594079"/>
            <a:ext cx="4311435" cy="31609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6007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9DDF54-23ED-8E88-BB7D-2321E0A7E5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2912" y="1141340"/>
            <a:ext cx="10890929" cy="1097280"/>
          </a:xfrm>
        </p:spPr>
        <p:txBody>
          <a:bodyPr>
            <a:normAutofit/>
          </a:bodyPr>
          <a:lstStyle/>
          <a:p>
            <a:r>
              <a:rPr lang="en-US" dirty="0"/>
              <a:t>(2)</a:t>
            </a:r>
            <a:r>
              <a:rPr lang="en-US" b="1" dirty="0">
                <a:solidFill>
                  <a:srgbClr val="FF0000"/>
                </a:solidFill>
              </a:rPr>
              <a:t> </a:t>
            </a:r>
            <a:r>
              <a:rPr lang="en-US" b="1" dirty="0" err="1">
                <a:solidFill>
                  <a:srgbClr val="FF0000"/>
                </a:solidFill>
              </a:rPr>
              <a:t>Real_pct_change_quarterly</a:t>
            </a:r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962047-C16A-2459-7983-BD21002F7F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6D58BD9B-0114-0C96-C3C6-4E3A9EFA8E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7145" y="2238620"/>
            <a:ext cx="11470193" cy="3667406"/>
          </a:xfrm>
          <a:prstGeom prst="rect">
            <a:avLst/>
          </a:prstGeom>
        </p:spPr>
      </p:pic>
      <p:sp>
        <p:nvSpPr>
          <p:cNvPr id="19" name="Rectangle 18">
            <a:hlinkClick r:id="rId4" action="ppaction://hlinksldjump"/>
            <a:extLst>
              <a:ext uri="{FF2B5EF4-FFF2-40B4-BE49-F238E27FC236}">
                <a16:creationId xmlns:a16="http://schemas.microsoft.com/office/drawing/2014/main" id="{FB6E4377-E0B0-CE3B-43BD-C87AA77986EE}"/>
              </a:ext>
            </a:extLst>
          </p:cNvPr>
          <p:cNvSpPr/>
          <p:nvPr/>
        </p:nvSpPr>
        <p:spPr>
          <a:xfrm>
            <a:off x="10081499" y="102977"/>
            <a:ext cx="1296250" cy="50305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/>
              <a:t>Return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60667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856D5A-B47F-50C8-C306-78A08F2342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(2)</a:t>
            </a:r>
            <a:r>
              <a:rPr lang="en-US" b="1" dirty="0">
                <a:solidFill>
                  <a:srgbClr val="FF0000"/>
                </a:solidFill>
              </a:rPr>
              <a:t> </a:t>
            </a:r>
            <a:r>
              <a:rPr lang="en-US" b="1" dirty="0" err="1">
                <a:solidFill>
                  <a:srgbClr val="FF0000"/>
                </a:solidFill>
              </a:rPr>
              <a:t>Real_pct_change_quarterly</a:t>
            </a:r>
            <a:r>
              <a:rPr lang="en-US" dirty="0">
                <a:solidFill>
                  <a:srgbClr val="FF0000"/>
                </a:solidFill>
              </a:rPr>
              <a:t> </a:t>
            </a:r>
            <a:r>
              <a:rPr lang="en-US" dirty="0"/>
              <a:t>Motivation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FF2ED6-F1ED-4478-4EC7-56BD1D3E7E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858ADEA-8CB2-0368-1AD3-8C1284D852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2781" y="2380285"/>
            <a:ext cx="6021766" cy="416891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9219D68-0D59-D691-1D9A-9DCA1D0406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796" y="2808382"/>
            <a:ext cx="6081963" cy="2266914"/>
          </a:xfrm>
          <a:prstGeom prst="rect">
            <a:avLst/>
          </a:prstGeom>
        </p:spPr>
      </p:pic>
      <p:sp>
        <p:nvSpPr>
          <p:cNvPr id="6" name="Rectangle 5">
            <a:hlinkClick r:id="rId4" action="ppaction://hlinksldjump"/>
            <a:extLst>
              <a:ext uri="{FF2B5EF4-FFF2-40B4-BE49-F238E27FC236}">
                <a16:creationId xmlns:a16="http://schemas.microsoft.com/office/drawing/2014/main" id="{32B41B5C-9A4F-EC08-F9F5-AB168CCB2437}"/>
              </a:ext>
            </a:extLst>
          </p:cNvPr>
          <p:cNvSpPr/>
          <p:nvPr/>
        </p:nvSpPr>
        <p:spPr>
          <a:xfrm>
            <a:off x="10081499" y="102977"/>
            <a:ext cx="1296250" cy="50305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/>
              <a:t>Return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5581535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E8B769-B81F-6F4B-6684-BAA0162699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(3) </a:t>
            </a:r>
            <a:r>
              <a:rPr lang="en-US" b="1" dirty="0" err="1">
                <a:solidFill>
                  <a:srgbClr val="FF0000"/>
                </a:solidFill>
              </a:rPr>
              <a:t>Fund_pct_change</a:t>
            </a:r>
            <a:r>
              <a:rPr lang="en-US" b="1" dirty="0">
                <a:solidFill>
                  <a:srgbClr val="FF0000"/>
                </a:solidFill>
              </a:rPr>
              <a:t> (this </a:t>
            </a:r>
            <a:r>
              <a:rPr lang="en-US" dirty="0">
                <a:solidFill>
                  <a:srgbClr val="FF0000"/>
                </a:solidFill>
              </a:rPr>
              <a:t>example is AMZN</a:t>
            </a:r>
            <a:r>
              <a:rPr lang="en-US" b="1" dirty="0">
                <a:solidFill>
                  <a:srgbClr val="FF0000"/>
                </a:solidFill>
              </a:rPr>
              <a:t>)</a:t>
            </a:r>
            <a:br>
              <a:rPr lang="en-US" b="1" dirty="0">
                <a:solidFill>
                  <a:srgbClr val="FF0000"/>
                </a:solidFill>
              </a:rPr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DB7347-46E5-6734-F119-C654827B2C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CE10FF3-77AE-121D-7120-D617FC4F11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992" y="2581913"/>
            <a:ext cx="11831962" cy="2904486"/>
          </a:xfrm>
          <a:prstGeom prst="rect">
            <a:avLst/>
          </a:prstGeom>
        </p:spPr>
      </p:pic>
      <p:sp>
        <p:nvSpPr>
          <p:cNvPr id="6" name="Rectangle 5">
            <a:hlinkClick r:id="rId3" action="ppaction://hlinksldjump"/>
            <a:extLst>
              <a:ext uri="{FF2B5EF4-FFF2-40B4-BE49-F238E27FC236}">
                <a16:creationId xmlns:a16="http://schemas.microsoft.com/office/drawing/2014/main" id="{75C8DED7-1826-BAE0-645B-5263832D4D03}"/>
              </a:ext>
            </a:extLst>
          </p:cNvPr>
          <p:cNvSpPr/>
          <p:nvPr/>
        </p:nvSpPr>
        <p:spPr>
          <a:xfrm>
            <a:off x="10081499" y="102977"/>
            <a:ext cx="1296250" cy="50305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/>
              <a:t>Return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82534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BDB109-ACFA-6A0A-C7DE-B50FEDACE9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FF0000"/>
                </a:solidFill>
              </a:rPr>
              <a:t>(4) </a:t>
            </a:r>
            <a:r>
              <a:rPr lang="en-US" b="1" dirty="0" err="1">
                <a:solidFill>
                  <a:srgbClr val="FF0000"/>
                </a:solidFill>
              </a:rPr>
              <a:t>Fund_Impact</a:t>
            </a:r>
            <a:r>
              <a:rPr lang="en-US" dirty="0" err="1">
                <a:solidFill>
                  <a:srgbClr val="FF0000"/>
                </a:solidFill>
              </a:rPr>
              <a:t>_Summary</a:t>
            </a:r>
            <a:r>
              <a:rPr lang="en-US" dirty="0">
                <a:solidFill>
                  <a:srgbClr val="FF0000"/>
                </a:solidFill>
              </a:rPr>
              <a:t> : n x(14 *4) matrix 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565BFC-51C1-EF97-7568-05B326F114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3398439-AA20-8AEB-0A4F-0D90108D60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6923" y="2065387"/>
            <a:ext cx="8498596" cy="4647465"/>
          </a:xfrm>
          <a:prstGeom prst="rect">
            <a:avLst/>
          </a:prstGeom>
        </p:spPr>
      </p:pic>
      <p:sp>
        <p:nvSpPr>
          <p:cNvPr id="6" name="Rectangle 5">
            <a:hlinkClick r:id="rId3" action="ppaction://hlinksldjump"/>
            <a:extLst>
              <a:ext uri="{FF2B5EF4-FFF2-40B4-BE49-F238E27FC236}">
                <a16:creationId xmlns:a16="http://schemas.microsoft.com/office/drawing/2014/main" id="{515C2C82-7F45-FB4A-6F7E-E3E6869636D4}"/>
              </a:ext>
            </a:extLst>
          </p:cNvPr>
          <p:cNvSpPr/>
          <p:nvPr/>
        </p:nvSpPr>
        <p:spPr>
          <a:xfrm>
            <a:off x="10081499" y="102977"/>
            <a:ext cx="1296250" cy="50305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/>
              <a:t>Return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21526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B1A3C8-44BB-B6E8-2CC5-4520D0F19D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204932"/>
            <a:ext cx="10890929" cy="1097280"/>
          </a:xfrm>
        </p:spPr>
        <p:txBody>
          <a:bodyPr/>
          <a:lstStyle/>
          <a:p>
            <a:r>
              <a:rPr lang="en-US" dirty="0"/>
              <a:t>(5) </a:t>
            </a:r>
            <a:r>
              <a:rPr lang="en-US" dirty="0">
                <a:solidFill>
                  <a:srgbClr val="FF0000"/>
                </a:solidFill>
              </a:rPr>
              <a:t>Calculate P and Omega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F0733F-FF4F-10CD-2E3A-51758222C7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37F5E28-AD2E-1A8B-FFA3-FF13003941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2881" y="204932"/>
            <a:ext cx="4137549" cy="665306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4EEE910-1C6E-3226-EB2F-3049964E82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597" y="1241101"/>
            <a:ext cx="6296229" cy="218789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A6AFCE8-5F9C-5765-90C1-03B58EECD6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596" y="3928073"/>
            <a:ext cx="6296229" cy="2369872"/>
          </a:xfrm>
          <a:prstGeom prst="rect">
            <a:avLst/>
          </a:prstGeom>
        </p:spPr>
      </p:pic>
      <p:sp>
        <p:nvSpPr>
          <p:cNvPr id="7" name="Rectangle 6">
            <a:hlinkClick r:id="rId5" action="ppaction://hlinksldjump"/>
            <a:extLst>
              <a:ext uri="{FF2B5EF4-FFF2-40B4-BE49-F238E27FC236}">
                <a16:creationId xmlns:a16="http://schemas.microsoft.com/office/drawing/2014/main" id="{AEDAE974-04D8-3076-0C8A-1BFD4FF518EB}"/>
              </a:ext>
            </a:extLst>
          </p:cNvPr>
          <p:cNvSpPr/>
          <p:nvPr/>
        </p:nvSpPr>
        <p:spPr>
          <a:xfrm>
            <a:off x="10729813" y="2294808"/>
            <a:ext cx="1296250" cy="50305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/>
              <a:t>Return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627502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FCD1A9-123B-90AA-6C20-E7F7CD5D90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LaTeX Dissertation Progress</a:t>
            </a:r>
            <a:br>
              <a:rPr lang="en-US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977CDF-CA9A-41ED-958C-9597AE4476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8565" y="2303076"/>
            <a:ext cx="11900264" cy="436604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CN" altLang="en-US" dirty="0"/>
              <a:t> </a:t>
            </a:r>
            <a:endParaRPr lang="en-GB" altLang="zh-CN" dirty="0"/>
          </a:p>
          <a:p>
            <a:pPr lvl="1"/>
            <a:endParaRPr lang="en-US" altLang="zh-C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88E28DC-58D5-791F-A978-3A8F78C35D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9160" y="754594"/>
            <a:ext cx="4985455" cy="61034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226460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AE86D6-E24E-A7B0-6704-312FAE0627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My Next Step: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85D083-2B60-8A77-E6B6-69D8EFA517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zh-CN" dirty="0"/>
              <a:t>(1) Finish model pipeline</a:t>
            </a:r>
          </a:p>
          <a:p>
            <a:pPr lvl="1"/>
            <a:r>
              <a:rPr lang="en-US" altLang="zh-CN" dirty="0"/>
              <a:t>Finish the pipeline for getting </a:t>
            </a:r>
            <a:r>
              <a:rPr lang="en-US" altLang="zh-CN" b="1" dirty="0">
                <a:solidFill>
                  <a:srgbClr val="FF0000"/>
                </a:solidFill>
              </a:rPr>
              <a:t>Q</a:t>
            </a:r>
            <a:endParaRPr lang="en-US" altLang="zh-CN" dirty="0"/>
          </a:p>
          <a:p>
            <a:pPr lvl="1"/>
            <a:r>
              <a:rPr lang="en-US" altLang="zh-CN" dirty="0"/>
              <a:t>Build out the pipeline for getting Prior </a:t>
            </a:r>
            <a:r>
              <a:rPr lang="en-US" altLang="zh-CN" b="1" dirty="0">
                <a:solidFill>
                  <a:srgbClr val="FF0000"/>
                </a:solidFill>
              </a:rPr>
              <a:t>E[R]</a:t>
            </a:r>
          </a:p>
          <a:p>
            <a:r>
              <a:rPr lang="en-US" altLang="zh-CN" dirty="0"/>
              <a:t>(2) Perform more Literature review</a:t>
            </a:r>
          </a:p>
          <a:p>
            <a:pPr lvl="2"/>
            <a:r>
              <a:rPr lang="en-US" altLang="zh-CN" dirty="0"/>
              <a:t>How to deal with 13 F Dataset? (Get </a:t>
            </a:r>
            <a:r>
              <a:rPr lang="en-US" altLang="zh-CN" b="1" dirty="0">
                <a:solidFill>
                  <a:srgbClr val="FF0000"/>
                </a:solidFill>
              </a:rPr>
              <a:t>P</a:t>
            </a:r>
            <a:r>
              <a:rPr lang="en-US" altLang="zh-CN" dirty="0"/>
              <a:t> and </a:t>
            </a:r>
            <a:r>
              <a:rPr lang="en-US" altLang="zh-CN" b="1" dirty="0">
                <a:solidFill>
                  <a:srgbClr val="FF0000"/>
                </a:solidFill>
              </a:rPr>
              <a:t>Omega</a:t>
            </a:r>
            <a:r>
              <a:rPr lang="en-US" altLang="zh-CN" dirty="0"/>
              <a:t>)</a:t>
            </a:r>
          </a:p>
          <a:p>
            <a:pPr lvl="3"/>
            <a:r>
              <a:rPr lang="en-US" altLang="zh-CN" dirty="0"/>
              <a:t>Quarterly data, update slow</a:t>
            </a:r>
          </a:p>
          <a:p>
            <a:pPr lvl="2"/>
            <a:r>
              <a:rPr lang="en-US" altLang="zh-CN" dirty="0"/>
              <a:t>What models are used to get </a:t>
            </a:r>
            <a:r>
              <a:rPr lang="en-US" altLang="zh-CN" b="1" dirty="0">
                <a:solidFill>
                  <a:srgbClr val="FF0000"/>
                </a:solidFill>
              </a:rPr>
              <a:t>Q</a:t>
            </a:r>
            <a:r>
              <a:rPr lang="en-US" altLang="zh-CN" dirty="0"/>
              <a:t> in the past?</a:t>
            </a:r>
          </a:p>
          <a:p>
            <a:pPr lvl="2"/>
            <a:r>
              <a:rPr lang="en-US" altLang="zh-CN" dirty="0"/>
              <a:t>What models are used to get Prior </a:t>
            </a:r>
            <a:r>
              <a:rPr lang="en-US" altLang="zh-CN" b="1" dirty="0">
                <a:solidFill>
                  <a:srgbClr val="FF0000"/>
                </a:solidFill>
              </a:rPr>
              <a:t>E[R]</a:t>
            </a:r>
            <a:endParaRPr lang="en-US" altLang="zh-CN" dirty="0"/>
          </a:p>
        </p:txBody>
      </p:sp>
      <p:sp>
        <p:nvSpPr>
          <p:cNvPr id="4" name="Rectangle 3">
            <a:hlinkClick r:id="rId2" action="ppaction://hlinksldjump"/>
            <a:extLst>
              <a:ext uri="{FF2B5EF4-FFF2-40B4-BE49-F238E27FC236}">
                <a16:creationId xmlns:a16="http://schemas.microsoft.com/office/drawing/2014/main" id="{18CDD0D7-537C-85F9-5462-259DA2D8B50F}"/>
              </a:ext>
            </a:extLst>
          </p:cNvPr>
          <p:cNvSpPr/>
          <p:nvPr/>
        </p:nvSpPr>
        <p:spPr>
          <a:xfrm>
            <a:off x="9382230" y="171573"/>
            <a:ext cx="2004291" cy="48952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Return</a:t>
            </a:r>
          </a:p>
        </p:txBody>
      </p:sp>
    </p:spTree>
    <p:extLst>
      <p:ext uri="{BB962C8B-B14F-4D97-AF65-F5344CB8AC3E}">
        <p14:creationId xmlns:p14="http://schemas.microsoft.com/office/powerpoint/2010/main" val="49722851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34D412-5558-37F8-9890-8D708401F5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My Question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E34105-C116-1D54-7C5E-4795DEDF06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US" altLang="zh-CN" dirty="0"/>
          </a:p>
          <a:p>
            <a:r>
              <a:rPr lang="en-US" altLang="zh-CN" dirty="0"/>
              <a:t>Is my current working methodology correct?</a:t>
            </a:r>
          </a:p>
          <a:p>
            <a:r>
              <a:rPr lang="en-US" altLang="zh-CN" dirty="0"/>
              <a:t>What’s a typical research cycle for a statistician?</a:t>
            </a:r>
          </a:p>
          <a:p>
            <a:pPr lvl="1"/>
            <a:r>
              <a:rPr lang="en-US" altLang="zh-CN" dirty="0"/>
              <a:t>1 h Literature review</a:t>
            </a:r>
          </a:p>
          <a:p>
            <a:pPr lvl="1"/>
            <a:r>
              <a:rPr lang="en-US" altLang="zh-CN" dirty="0"/>
              <a:t>1 h coding</a:t>
            </a:r>
          </a:p>
          <a:p>
            <a:pPr lvl="1"/>
            <a:r>
              <a:rPr lang="en-US" altLang="zh-CN" dirty="0"/>
              <a:t>1 h writing </a:t>
            </a:r>
          </a:p>
          <a:p>
            <a:pPr lvl="1"/>
            <a:r>
              <a:rPr lang="en-US" altLang="zh-CN" dirty="0"/>
              <a:t>1 h presentation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058383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77AADB-897B-22B7-23E7-132FC5FD73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Timeline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CA39FF-9EB8-74A9-D0CF-771A00AB2E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D7BEEF2E-8A15-2801-C70F-70210FB039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69711007"/>
              </p:ext>
            </p:extLst>
          </p:nvPr>
        </p:nvGraphicFramePr>
        <p:xfrm>
          <a:off x="660992" y="2109364"/>
          <a:ext cx="10870017" cy="433686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623339">
                  <a:extLst>
                    <a:ext uri="{9D8B030D-6E8A-4147-A177-3AD203B41FA5}">
                      <a16:colId xmlns:a16="http://schemas.microsoft.com/office/drawing/2014/main" val="1437098519"/>
                    </a:ext>
                  </a:extLst>
                </a:gridCol>
                <a:gridCol w="3989231">
                  <a:extLst>
                    <a:ext uri="{9D8B030D-6E8A-4147-A177-3AD203B41FA5}">
                      <a16:colId xmlns:a16="http://schemas.microsoft.com/office/drawing/2014/main" val="2574087089"/>
                    </a:ext>
                  </a:extLst>
                </a:gridCol>
                <a:gridCol w="3257447">
                  <a:extLst>
                    <a:ext uri="{9D8B030D-6E8A-4147-A177-3AD203B41FA5}">
                      <a16:colId xmlns:a16="http://schemas.microsoft.com/office/drawing/2014/main" val="1097176176"/>
                    </a:ext>
                  </a:extLst>
                </a:gridCol>
              </a:tblGrid>
              <a:tr h="509451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June 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Supervisor meeting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41207247"/>
                  </a:ext>
                </a:extLst>
              </a:tr>
              <a:tr h="509451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June 27-July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Data Cleaning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97037109"/>
                  </a:ext>
                </a:extLst>
              </a:tr>
              <a:tr h="509451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July 4 – July 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Model Development Part1: </a:t>
                      </a:r>
                      <a:br>
                        <a:rPr lang="en-US" dirty="0"/>
                      </a:br>
                      <a:r>
                        <a:rPr lang="en-US" dirty="0"/>
                        <a:t>Enhance Likelihood PQR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Today, in progress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3481046"/>
                  </a:ext>
                </a:extLst>
              </a:tr>
              <a:tr h="509451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July 23 – August 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Model Development </a:t>
                      </a:r>
                      <a:br>
                        <a:rPr lang="en-US" dirty="0"/>
                      </a:br>
                      <a:r>
                        <a:rPr lang="en-US" dirty="0"/>
                        <a:t>Writing main Chapters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Contact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4468335"/>
                  </a:ext>
                </a:extLst>
              </a:tr>
              <a:tr h="509451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August 5 – August 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Writing main chapters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Contact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2104341"/>
                  </a:ext>
                </a:extLst>
              </a:tr>
              <a:tr h="509451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August 16-August 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Polish </a:t>
                      </a:r>
                      <a:r>
                        <a:rPr lang="en-US" dirty="0" err="1"/>
                        <a:t>draf</a:t>
                      </a:r>
                      <a:r>
                        <a:rPr lang="en-US" dirty="0"/>
                        <a:t>, submit to supervisor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32600911"/>
                  </a:ext>
                </a:extLst>
              </a:tr>
              <a:tr h="50945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August 23- August 29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Further polishing draft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5115180"/>
                  </a:ext>
                </a:extLst>
              </a:tr>
              <a:tr h="50945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/>
                        <a:t>September 1 – September 8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Final</a:t>
                      </a:r>
                      <a:r>
                        <a:rPr lang="zh-CN" altLang="en-US" dirty="0"/>
                        <a:t> </a:t>
                      </a:r>
                      <a:r>
                        <a:rPr lang="en-US" altLang="zh-CN" dirty="0"/>
                        <a:t>Polish &amp; Submit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1915996"/>
                  </a:ext>
                </a:extLst>
              </a:tr>
            </a:tbl>
          </a:graphicData>
        </a:graphic>
      </p:graphicFrame>
      <p:sp>
        <p:nvSpPr>
          <p:cNvPr id="5" name="Rectangle 4">
            <a:hlinkClick r:id="rId2" action="ppaction://hlinksldjump"/>
            <a:extLst>
              <a:ext uri="{FF2B5EF4-FFF2-40B4-BE49-F238E27FC236}">
                <a16:creationId xmlns:a16="http://schemas.microsoft.com/office/drawing/2014/main" id="{CBA9E902-D058-87CA-5DDD-699D1B351932}"/>
              </a:ext>
            </a:extLst>
          </p:cNvPr>
          <p:cNvSpPr/>
          <p:nvPr/>
        </p:nvSpPr>
        <p:spPr>
          <a:xfrm>
            <a:off x="9382230" y="799778"/>
            <a:ext cx="2004291" cy="48952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Return</a:t>
            </a:r>
          </a:p>
        </p:txBody>
      </p:sp>
    </p:spTree>
    <p:extLst>
      <p:ext uri="{BB962C8B-B14F-4D97-AF65-F5344CB8AC3E}">
        <p14:creationId xmlns:p14="http://schemas.microsoft.com/office/powerpoint/2010/main" val="724011751"/>
      </p:ext>
    </p:extLst>
  </p:cSld>
  <p:clrMapOvr>
    <a:masterClrMapping/>
  </p:clrMapOvr>
</p:sld>
</file>

<file path=ppt/theme/theme1.xml><?xml version="1.0" encoding="utf-8"?>
<a:theme xmlns:a="http://schemas.openxmlformats.org/drawingml/2006/main" name="DashVTI">
  <a:themeElements>
    <a:clrScheme name="Custom 6">
      <a:dk1>
        <a:sysClr val="windowText" lastClr="000000"/>
      </a:dk1>
      <a:lt1>
        <a:sysClr val="window" lastClr="FFFFFF"/>
      </a:lt1>
      <a:dk2>
        <a:srgbClr val="0D1C3B"/>
      </a:dk2>
      <a:lt2>
        <a:srgbClr val="F5F2F9"/>
      </a:lt2>
      <a:accent1>
        <a:srgbClr val="1973EB"/>
      </a:accent1>
      <a:accent2>
        <a:srgbClr val="25C8A2"/>
      </a:accent2>
      <a:accent3>
        <a:srgbClr val="BF8ED1"/>
      </a:accent3>
      <a:accent4>
        <a:srgbClr val="FE733C"/>
      </a:accent4>
      <a:accent5>
        <a:srgbClr val="FE5A5A"/>
      </a:accent5>
      <a:accent6>
        <a:srgbClr val="1AC16E"/>
      </a:accent6>
      <a:hlink>
        <a:srgbClr val="1AC16E"/>
      </a:hlink>
      <a:folHlink>
        <a:srgbClr val="00B0F0"/>
      </a:folHlink>
    </a:clrScheme>
    <a:fontScheme name="grandview display">
      <a:majorFont>
        <a:latin typeface="Grandview Display"/>
        <a:ea typeface=""/>
        <a:cs typeface=""/>
      </a:majorFont>
      <a:minorFont>
        <a:latin typeface="Grandview Display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ashVTI" id="{0A75137F-CDEB-4E94-A788-9D255EBE1B91}" vid="{DE9A6A09-5855-45A3-8E99-4290ED24057C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12811</TotalTime>
  <Words>387</Words>
  <Application>Microsoft Macintosh PowerPoint</Application>
  <PresentationFormat>Widescreen</PresentationFormat>
  <Paragraphs>76</Paragraphs>
  <Slides>14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Aptos</vt:lpstr>
      <vt:lpstr>Arial</vt:lpstr>
      <vt:lpstr>Grandview Display</vt:lpstr>
      <vt:lpstr>DashVTI</vt:lpstr>
      <vt:lpstr>Dissertation Briefing</vt:lpstr>
      <vt:lpstr>Quick Recap: How to get P, Q, Ω with 13F?</vt:lpstr>
      <vt:lpstr>Table of Content</vt:lpstr>
      <vt:lpstr>Model Pipeline Construction</vt:lpstr>
      <vt:lpstr>(1) How 13 F makes money</vt:lpstr>
      <vt:lpstr>(2) Real_pct_change_quarterly </vt:lpstr>
      <vt:lpstr>(2) Real_pct_change_quarterly Motivation</vt:lpstr>
      <vt:lpstr>(3) Fund_pct_change (this example is AMZN) </vt:lpstr>
      <vt:lpstr>(4) Fund_Impact_Summary : n x(14 *4) matrix </vt:lpstr>
      <vt:lpstr>(5) Calculate P and Omega</vt:lpstr>
      <vt:lpstr>LaTeX Dissertation Progress </vt:lpstr>
      <vt:lpstr>My Next Step:</vt:lpstr>
      <vt:lpstr>My Question</vt:lpstr>
      <vt:lpstr>Timeline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Liangxiao LI</dc:creator>
  <cp:lastModifiedBy>Liangxiao LI</cp:lastModifiedBy>
  <cp:revision>4</cp:revision>
  <dcterms:created xsi:type="dcterms:W3CDTF">2025-06-22T09:43:48Z</dcterms:created>
  <dcterms:modified xsi:type="dcterms:W3CDTF">2025-07-11T16:24:18Z</dcterms:modified>
</cp:coreProperties>
</file>